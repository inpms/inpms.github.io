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540" r:id="rId2"/>
    <p:sldId id="657" r:id="rId3"/>
    <p:sldId id="704" r:id="rId4"/>
    <p:sldId id="696" r:id="rId5"/>
    <p:sldId id="697" r:id="rId6"/>
    <p:sldId id="698" r:id="rId7"/>
    <p:sldId id="699" r:id="rId8"/>
    <p:sldId id="700" r:id="rId9"/>
    <p:sldId id="702" r:id="rId10"/>
    <p:sldId id="701" r:id="rId11"/>
    <p:sldId id="705" r:id="rId12"/>
    <p:sldId id="541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>
          <p15:clr>
            <a:srgbClr val="A4A3A4"/>
          </p15:clr>
        </p15:guide>
        <p15:guide id="2" pos="385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4061"/>
    <a:srgbClr val="FF6600"/>
    <a:srgbClr val="855CA3"/>
    <a:srgbClr val="C6AC08"/>
    <a:srgbClr val="FDEADA"/>
    <a:srgbClr val="D19F61"/>
    <a:srgbClr val="336699"/>
    <a:srgbClr val="31859C"/>
    <a:srgbClr val="003366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9" autoAdjust="0"/>
    <p:restoredTop sz="94660"/>
  </p:normalViewPr>
  <p:slideViewPr>
    <p:cSldViewPr snapToGrid="0" showGuides="1">
      <p:cViewPr varScale="1">
        <p:scale>
          <a:sx n="132" d="100"/>
          <a:sy n="132" d="100"/>
        </p:scale>
        <p:origin x="87" y="53"/>
      </p:cViewPr>
      <p:guideLst>
        <p:guide orient="horz" pos="2165"/>
        <p:guide pos="385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DA6247-09F3-45CB-A173-42A73E2BE5B1}" type="datetimeFigureOut">
              <a:rPr lang="zh-CN" altLang="en-US" smtClean="0"/>
              <a:t>2024/11/16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D19F4-BEF7-4492-8D27-F05FB840D6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D19F4-BEF7-4492-8D27-F05FB840D61E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D43093-0FA2-402E-9BB1-5BC4ADD6F19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996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D43093-0FA2-402E-9BB1-5BC4ADD6F1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51461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D43093-0FA2-402E-9BB1-5BC4ADD6F1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5100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D43093-0FA2-402E-9BB1-5BC4ADD6F1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409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D43093-0FA2-402E-9BB1-5BC4ADD6F1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11168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D43093-0FA2-402E-9BB1-5BC4ADD6F1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70139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D43093-0FA2-402E-9BB1-5BC4ADD6F1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01196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D43093-0FA2-402E-9BB1-5BC4ADD6F1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3522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18533" y="0"/>
            <a:ext cx="11167534" cy="736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8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任意多边形: 形状 21"/>
          <p:cNvSpPr/>
          <p:nvPr/>
        </p:nvSpPr>
        <p:spPr>
          <a:xfrm rot="16200000" flipH="1">
            <a:off x="8633653" y="-537063"/>
            <a:ext cx="1832249" cy="2906375"/>
          </a:xfrm>
          <a:custGeom>
            <a:avLst/>
            <a:gdLst>
              <a:gd name="connsiteX0" fmla="*/ 0 w 1832249"/>
              <a:gd name="connsiteY0" fmla="*/ 0 h 2906375"/>
              <a:gd name="connsiteX1" fmla="*/ 0 w 1832249"/>
              <a:gd name="connsiteY1" fmla="*/ 1313065 h 2906375"/>
              <a:gd name="connsiteX2" fmla="*/ 1832249 w 1832249"/>
              <a:gd name="connsiteY2" fmla="*/ 2906375 h 2906375"/>
              <a:gd name="connsiteX3" fmla="*/ 1832249 w 1832249"/>
              <a:gd name="connsiteY3" fmla="*/ 1529151 h 2906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32249" h="2906375">
                <a:moveTo>
                  <a:pt x="0" y="0"/>
                </a:moveTo>
                <a:lnTo>
                  <a:pt x="0" y="1313065"/>
                </a:lnTo>
                <a:lnTo>
                  <a:pt x="1832249" y="2906375"/>
                </a:lnTo>
                <a:lnTo>
                  <a:pt x="1832249" y="1529151"/>
                </a:lnTo>
                <a:close/>
              </a:path>
            </a:pathLst>
          </a:cu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292028" y="-6393"/>
            <a:ext cx="4182218" cy="6870787"/>
          </a:xfrm>
          <a:prstGeom prst="rect">
            <a:avLst/>
          </a:prstGeom>
        </p:spPr>
      </p:pic>
      <p:sp>
        <p:nvSpPr>
          <p:cNvPr id="5" name="任意多边形: 形状 22"/>
          <p:cNvSpPr/>
          <p:nvPr/>
        </p:nvSpPr>
        <p:spPr>
          <a:xfrm rot="16200000" flipH="1">
            <a:off x="9924534" y="4590533"/>
            <a:ext cx="1923702" cy="2611230"/>
          </a:xfrm>
          <a:custGeom>
            <a:avLst/>
            <a:gdLst>
              <a:gd name="connsiteX0" fmla="*/ 0 w 1923702"/>
              <a:gd name="connsiteY0" fmla="*/ 0 h 2611230"/>
              <a:gd name="connsiteX1" fmla="*/ 0 w 1923702"/>
              <a:gd name="connsiteY1" fmla="*/ 1229128 h 2611230"/>
              <a:gd name="connsiteX2" fmla="*/ 1589368 w 1923702"/>
              <a:gd name="connsiteY2" fmla="*/ 2611230 h 2611230"/>
              <a:gd name="connsiteX3" fmla="*/ 1923702 w 1923702"/>
              <a:gd name="connsiteY3" fmla="*/ 2611230 h 2611230"/>
              <a:gd name="connsiteX4" fmla="*/ 1923702 w 1923702"/>
              <a:gd name="connsiteY4" fmla="*/ 1605476 h 2611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23702" h="2611230">
                <a:moveTo>
                  <a:pt x="0" y="0"/>
                </a:moveTo>
                <a:lnTo>
                  <a:pt x="0" y="1229128"/>
                </a:lnTo>
                <a:lnTo>
                  <a:pt x="1589368" y="2611230"/>
                </a:lnTo>
                <a:lnTo>
                  <a:pt x="1923702" y="2611230"/>
                </a:lnTo>
                <a:lnTo>
                  <a:pt x="1923702" y="1605476"/>
                </a:lnTo>
                <a:close/>
              </a:path>
            </a:pathLst>
          </a:cu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五边形 5"/>
          <p:cNvSpPr/>
          <p:nvPr/>
        </p:nvSpPr>
        <p:spPr>
          <a:xfrm>
            <a:off x="1" y="0"/>
            <a:ext cx="9052050" cy="6864394"/>
          </a:xfrm>
          <a:prstGeom prst="homePlate">
            <a:avLst>
              <a:gd name="adj" fmla="val 41675"/>
            </a:avLst>
          </a:prstGeom>
          <a:solidFill>
            <a:srgbClr val="70379B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88814" y="2148296"/>
            <a:ext cx="82551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spcBef>
                <a:spcPct val="0"/>
              </a:spcBef>
            </a:pPr>
            <a:r>
              <a:rPr lang="zh-CN" altLang="en-US" sz="72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抽奖功能优化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978024" y="3417849"/>
            <a:ext cx="7026073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iṡļîḑê"/>
          <p:cNvGrpSpPr/>
          <p:nvPr/>
        </p:nvGrpSpPr>
        <p:grpSpPr>
          <a:xfrm>
            <a:off x="8004097" y="3234199"/>
            <a:ext cx="358527" cy="358527"/>
            <a:chOff x="9010162" y="3529160"/>
            <a:chExt cx="430808" cy="430808"/>
          </a:xfrm>
        </p:grpSpPr>
        <p:grpSp>
          <p:nvGrpSpPr>
            <p:cNvPr id="20" name="íşḷiďê"/>
            <p:cNvGrpSpPr/>
            <p:nvPr/>
          </p:nvGrpSpPr>
          <p:grpSpPr>
            <a:xfrm flipV="1">
              <a:off x="9010162" y="3529160"/>
              <a:ext cx="430808" cy="430808"/>
              <a:chOff x="2897668" y="4340727"/>
              <a:chExt cx="116995" cy="116995"/>
            </a:xfrm>
          </p:grpSpPr>
          <p:sp>
            <p:nvSpPr>
              <p:cNvPr id="22" name="ïSlíḑè"/>
              <p:cNvSpPr/>
              <p:nvPr/>
            </p:nvSpPr>
            <p:spPr>
              <a:xfrm>
                <a:off x="2897668" y="4340727"/>
                <a:ext cx="116995" cy="116995"/>
              </a:xfrm>
              <a:prstGeom prst="ellipse">
                <a:avLst/>
              </a:prstGeom>
              <a:solidFill>
                <a:schemeClr val="bg1">
                  <a:alpha val="3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îṡḷïdé"/>
              <p:cNvSpPr/>
              <p:nvPr/>
            </p:nvSpPr>
            <p:spPr>
              <a:xfrm>
                <a:off x="2924697" y="4367756"/>
                <a:ext cx="62938" cy="6293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1" name="ïṩlíḑê"/>
            <p:cNvSpPr/>
            <p:nvPr/>
          </p:nvSpPr>
          <p:spPr>
            <a:xfrm rot="5400000">
              <a:off x="9190036" y="3703669"/>
              <a:ext cx="94873" cy="8178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bgppt3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7434" y="-15838"/>
            <a:ext cx="121920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t="8659" r="729" b="16572"/>
          <a:stretch>
            <a:fillRect/>
          </a:stretch>
        </p:blipFill>
        <p:spPr>
          <a:xfrm>
            <a:off x="0" y="-15838"/>
            <a:ext cx="12192000" cy="3837952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0" y="0"/>
            <a:ext cx="2781982" cy="3807024"/>
          </a:xfrm>
          <a:prstGeom prst="rect">
            <a:avLst/>
          </a:prstGeom>
          <a:solidFill>
            <a:srgbClr val="7030A0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73302" y="2290743"/>
            <a:ext cx="298030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5400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微软雅黑" panose="020B0503020204020204" pitchFamily="34" charset="-122"/>
              </a:rPr>
              <a:t>C</a:t>
            </a:r>
            <a:r>
              <a:rPr lang="en-US" altLang="zh-CN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微软雅黑" panose="020B0503020204020204" pitchFamily="34" charset="-122"/>
              </a:rPr>
              <a:t>ONTENTS</a:t>
            </a:r>
          </a:p>
        </p:txBody>
      </p:sp>
      <p:sp>
        <p:nvSpPr>
          <p:cNvPr id="6" name="矩形 5"/>
          <p:cNvSpPr/>
          <p:nvPr/>
        </p:nvSpPr>
        <p:spPr>
          <a:xfrm>
            <a:off x="1173302" y="1569019"/>
            <a:ext cx="251214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800" dirty="0"/>
          </a:p>
        </p:txBody>
      </p:sp>
      <p:sp>
        <p:nvSpPr>
          <p:cNvPr id="7" name="文本框 6"/>
          <p:cNvSpPr txBox="1"/>
          <p:nvPr/>
        </p:nvSpPr>
        <p:spPr>
          <a:xfrm>
            <a:off x="9082455" y="4662724"/>
            <a:ext cx="2919045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抽奖优化流程</a:t>
            </a:r>
            <a:endParaRPr lang="en-US" altLang="zh-CN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抽奖优化展示</a:t>
            </a:r>
            <a:endParaRPr lang="en-US" altLang="zh-CN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抽奖优化开发工作量</a:t>
            </a:r>
            <a:endParaRPr lang="en-US" altLang="zh-CN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矩形 2"/>
          <p:cNvSpPr/>
          <p:nvPr/>
        </p:nvSpPr>
        <p:spPr>
          <a:xfrm>
            <a:off x="97200" y="117878"/>
            <a:ext cx="6096000" cy="612562"/>
          </a:xfrm>
          <a:custGeom>
            <a:avLst/>
            <a:gdLst>
              <a:gd name="connsiteX0" fmla="*/ 0 w 6096000"/>
              <a:gd name="connsiteY0" fmla="*/ 0 h 612562"/>
              <a:gd name="connsiteX1" fmla="*/ 6096000 w 6096000"/>
              <a:gd name="connsiteY1" fmla="*/ 0 h 612562"/>
              <a:gd name="connsiteX2" fmla="*/ 6096000 w 6096000"/>
              <a:gd name="connsiteY2" fmla="*/ 612562 h 612562"/>
              <a:gd name="connsiteX3" fmla="*/ 0 w 6096000"/>
              <a:gd name="connsiteY3" fmla="*/ 612562 h 612562"/>
              <a:gd name="connsiteX4" fmla="*/ 0 w 6096000"/>
              <a:gd name="connsiteY4" fmla="*/ 0 h 612562"/>
              <a:gd name="connsiteX0-1" fmla="*/ 0 w 6096000"/>
              <a:gd name="connsiteY0-2" fmla="*/ 0 h 612562"/>
              <a:gd name="connsiteX1-3" fmla="*/ 6096000 w 6096000"/>
              <a:gd name="connsiteY1-4" fmla="*/ 0 h 612562"/>
              <a:gd name="connsiteX2-5" fmla="*/ 5927324 w 6096000"/>
              <a:gd name="connsiteY2-6" fmla="*/ 612562 h 612562"/>
              <a:gd name="connsiteX3-7" fmla="*/ 0 w 6096000"/>
              <a:gd name="connsiteY3-8" fmla="*/ 612562 h 612562"/>
              <a:gd name="connsiteX4-9" fmla="*/ 0 w 6096000"/>
              <a:gd name="connsiteY4-10" fmla="*/ 0 h 61256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096000" h="612562">
                <a:moveTo>
                  <a:pt x="0" y="0"/>
                </a:moveTo>
                <a:lnTo>
                  <a:pt x="6096000" y="0"/>
                </a:lnTo>
                <a:lnTo>
                  <a:pt x="5927324" y="612562"/>
                </a:lnTo>
                <a:lnTo>
                  <a:pt x="0" y="612562"/>
                </a:lnTo>
                <a:lnTo>
                  <a:pt x="0" y="0"/>
                </a:lnTo>
                <a:close/>
              </a:path>
            </a:pathLst>
          </a:custGeom>
          <a:solidFill>
            <a:srgbClr val="1F9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9" name="任意多边形: 形状 158"/>
          <p:cNvSpPr/>
          <p:nvPr/>
        </p:nvSpPr>
        <p:spPr>
          <a:xfrm>
            <a:off x="6131054" y="117878"/>
            <a:ext cx="470517" cy="612562"/>
          </a:xfrm>
          <a:custGeom>
            <a:avLst/>
            <a:gdLst>
              <a:gd name="connsiteX0" fmla="*/ 168676 w 470517"/>
              <a:gd name="connsiteY0" fmla="*/ 0 h 612562"/>
              <a:gd name="connsiteX1" fmla="*/ 470517 w 470517"/>
              <a:gd name="connsiteY1" fmla="*/ 0 h 612562"/>
              <a:gd name="connsiteX2" fmla="*/ 301841 w 470517"/>
              <a:gd name="connsiteY2" fmla="*/ 612562 h 612562"/>
              <a:gd name="connsiteX3" fmla="*/ 0 w 470517"/>
              <a:gd name="connsiteY3" fmla="*/ 612562 h 612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517" h="612562">
                <a:moveTo>
                  <a:pt x="168676" y="0"/>
                </a:moveTo>
                <a:lnTo>
                  <a:pt x="470517" y="0"/>
                </a:lnTo>
                <a:lnTo>
                  <a:pt x="301841" y="612562"/>
                </a:lnTo>
                <a:lnTo>
                  <a:pt x="0" y="612562"/>
                </a:lnTo>
                <a:close/>
              </a:path>
            </a:pathLst>
          </a:custGeom>
          <a:solidFill>
            <a:srgbClr val="5EBAE8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0" name="任意多边形: 形状 159"/>
          <p:cNvSpPr/>
          <p:nvPr/>
        </p:nvSpPr>
        <p:spPr>
          <a:xfrm>
            <a:off x="6539425" y="117878"/>
            <a:ext cx="304800" cy="612562"/>
          </a:xfrm>
          <a:custGeom>
            <a:avLst/>
            <a:gdLst>
              <a:gd name="connsiteX0" fmla="*/ 168676 w 304800"/>
              <a:gd name="connsiteY0" fmla="*/ 0 h 612562"/>
              <a:gd name="connsiteX1" fmla="*/ 304800 w 304800"/>
              <a:gd name="connsiteY1" fmla="*/ 0 h 612562"/>
              <a:gd name="connsiteX2" fmla="*/ 136124 w 304800"/>
              <a:gd name="connsiteY2" fmla="*/ 612562 h 612562"/>
              <a:gd name="connsiteX3" fmla="*/ 0 w 304800"/>
              <a:gd name="connsiteY3" fmla="*/ 612562 h 612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612562">
                <a:moveTo>
                  <a:pt x="168676" y="0"/>
                </a:moveTo>
                <a:lnTo>
                  <a:pt x="304800" y="0"/>
                </a:lnTo>
                <a:lnTo>
                  <a:pt x="136124" y="612562"/>
                </a:lnTo>
                <a:lnTo>
                  <a:pt x="0" y="612562"/>
                </a:lnTo>
                <a:close/>
              </a:path>
            </a:pathLst>
          </a:custGeom>
          <a:solidFill>
            <a:srgbClr val="75C4E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1500" y="189407"/>
            <a:ext cx="7010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抽奖优化流程</a:t>
            </a:r>
          </a:p>
        </p:txBody>
      </p:sp>
      <p:sp>
        <p:nvSpPr>
          <p:cNvPr id="66" name="矩形 65"/>
          <p:cNvSpPr/>
          <p:nvPr/>
        </p:nvSpPr>
        <p:spPr>
          <a:xfrm>
            <a:off x="1914078" y="2388836"/>
            <a:ext cx="1221032" cy="1040594"/>
          </a:xfrm>
          <a:prstGeom prst="rect">
            <a:avLst/>
          </a:prstGeom>
          <a:solidFill>
            <a:srgbClr val="1F99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用户进入紫荆管家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APP/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微信公众号</a:t>
            </a:r>
          </a:p>
        </p:txBody>
      </p:sp>
      <p:cxnSp>
        <p:nvCxnSpPr>
          <p:cNvPr id="71" name="直接箭头连接符 70"/>
          <p:cNvCxnSpPr>
            <a:stCxn id="98" idx="3"/>
            <a:endCxn id="60" idx="1"/>
          </p:cNvCxnSpPr>
          <p:nvPr/>
        </p:nvCxnSpPr>
        <p:spPr>
          <a:xfrm>
            <a:off x="4505558" y="2388836"/>
            <a:ext cx="249829" cy="10544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/>
          <p:cNvSpPr/>
          <p:nvPr/>
        </p:nvSpPr>
        <p:spPr>
          <a:xfrm>
            <a:off x="6105248" y="1944649"/>
            <a:ext cx="953009" cy="2993524"/>
          </a:xfrm>
          <a:prstGeom prst="rect">
            <a:avLst/>
          </a:prstGeom>
          <a:solidFill>
            <a:srgbClr val="1F99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点击‘去抽奖’</a:t>
            </a:r>
          </a:p>
        </p:txBody>
      </p:sp>
      <p:sp>
        <p:nvSpPr>
          <p:cNvPr id="75" name="矩形 74"/>
          <p:cNvSpPr/>
          <p:nvPr/>
        </p:nvSpPr>
        <p:spPr>
          <a:xfrm rot="2024392">
            <a:off x="3638605" y="3046815"/>
            <a:ext cx="1087992" cy="127914"/>
          </a:xfrm>
          <a:prstGeom prst="rect">
            <a:avLst/>
          </a:prstGeom>
          <a:noFill/>
          <a:ln w="31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6" name="直接箭头连接符 75"/>
          <p:cNvCxnSpPr>
            <a:stCxn id="66" idx="3"/>
            <a:endCxn id="98" idx="1"/>
          </p:cNvCxnSpPr>
          <p:nvPr/>
        </p:nvCxnSpPr>
        <p:spPr>
          <a:xfrm flipV="1">
            <a:off x="3135110" y="2388836"/>
            <a:ext cx="235148" cy="52029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>
            <a:stCxn id="66" idx="3"/>
            <a:endCxn id="99" idx="1"/>
          </p:cNvCxnSpPr>
          <p:nvPr/>
        </p:nvCxnSpPr>
        <p:spPr>
          <a:xfrm>
            <a:off x="3135110" y="2909133"/>
            <a:ext cx="245372" cy="5322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/>
          <p:cNvSpPr/>
          <p:nvPr/>
        </p:nvSpPr>
        <p:spPr>
          <a:xfrm>
            <a:off x="10099605" y="1944649"/>
            <a:ext cx="1337480" cy="1539157"/>
          </a:xfrm>
          <a:prstGeom prst="rect">
            <a:avLst/>
          </a:prstGeom>
          <a:solidFill>
            <a:srgbClr val="1F99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中奖人在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物业缴费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】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我的卡券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】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，按券规则选择账单，即可抵扣支付</a:t>
            </a:r>
          </a:p>
        </p:txBody>
      </p:sp>
      <p:sp>
        <p:nvSpPr>
          <p:cNvPr id="80" name="矩形 79"/>
          <p:cNvSpPr/>
          <p:nvPr/>
        </p:nvSpPr>
        <p:spPr>
          <a:xfrm>
            <a:off x="10099605" y="3678214"/>
            <a:ext cx="1337480" cy="1260952"/>
          </a:xfrm>
          <a:prstGeom prst="rect">
            <a:avLst/>
          </a:prstGeom>
          <a:solidFill>
            <a:srgbClr val="1F99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中奖人在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我的卡券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中选择实物券使用，系统跳出应付账单，支付成功后即可线下兑奖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1" name="直接箭头连接符 80"/>
          <p:cNvCxnSpPr>
            <a:stCxn id="99" idx="3"/>
            <a:endCxn id="60" idx="1"/>
          </p:cNvCxnSpPr>
          <p:nvPr/>
        </p:nvCxnSpPr>
        <p:spPr>
          <a:xfrm>
            <a:off x="4515782" y="3441350"/>
            <a:ext cx="239605" cy="18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>
            <a:stCxn id="74" idx="3"/>
            <a:endCxn id="84" idx="1"/>
          </p:cNvCxnSpPr>
          <p:nvPr/>
        </p:nvCxnSpPr>
        <p:spPr>
          <a:xfrm flipV="1">
            <a:off x="7058257" y="2743143"/>
            <a:ext cx="212185" cy="6982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>
            <a:stCxn id="74" idx="3"/>
            <a:endCxn id="85" idx="1"/>
          </p:cNvCxnSpPr>
          <p:nvPr/>
        </p:nvCxnSpPr>
        <p:spPr>
          <a:xfrm>
            <a:off x="7058257" y="3441411"/>
            <a:ext cx="212185" cy="89957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83"/>
          <p:cNvSpPr/>
          <p:nvPr/>
        </p:nvSpPr>
        <p:spPr>
          <a:xfrm>
            <a:off x="7270442" y="2374744"/>
            <a:ext cx="1125295" cy="736797"/>
          </a:xfrm>
          <a:prstGeom prst="rect">
            <a:avLst/>
          </a:prstGeom>
          <a:solidFill>
            <a:srgbClr val="1F99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物业费抵扣券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落入卡包</a:t>
            </a:r>
          </a:p>
        </p:txBody>
      </p:sp>
      <p:sp>
        <p:nvSpPr>
          <p:cNvPr id="85" name="矩形 84"/>
          <p:cNvSpPr/>
          <p:nvPr/>
        </p:nvSpPr>
        <p:spPr>
          <a:xfrm>
            <a:off x="7270442" y="4014536"/>
            <a:ext cx="1125295" cy="652907"/>
          </a:xfrm>
          <a:prstGeom prst="rect">
            <a:avLst/>
          </a:prstGeom>
          <a:solidFill>
            <a:srgbClr val="1F99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实物兑换券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落入卡包</a:t>
            </a:r>
          </a:p>
        </p:txBody>
      </p:sp>
      <p:cxnSp>
        <p:nvCxnSpPr>
          <p:cNvPr id="86" name="直接箭头连接符 85"/>
          <p:cNvCxnSpPr>
            <a:stCxn id="84" idx="3"/>
          </p:cNvCxnSpPr>
          <p:nvPr/>
        </p:nvCxnSpPr>
        <p:spPr>
          <a:xfrm flipV="1">
            <a:off x="8395737" y="2743142"/>
            <a:ext cx="244160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>
            <a:stCxn id="85" idx="3"/>
          </p:cNvCxnSpPr>
          <p:nvPr/>
        </p:nvCxnSpPr>
        <p:spPr>
          <a:xfrm flipV="1">
            <a:off x="8395737" y="4340989"/>
            <a:ext cx="244160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矩形 92"/>
          <p:cNvSpPr/>
          <p:nvPr/>
        </p:nvSpPr>
        <p:spPr>
          <a:xfrm>
            <a:off x="3370259" y="4056439"/>
            <a:ext cx="1135300" cy="883509"/>
          </a:xfrm>
          <a:prstGeom prst="rect">
            <a:avLst/>
          </a:prstGeom>
          <a:solidFill>
            <a:srgbClr val="1F99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用户扫码进入活动详情界面</a:t>
            </a:r>
          </a:p>
        </p:txBody>
      </p:sp>
      <p:cxnSp>
        <p:nvCxnSpPr>
          <p:cNvPr id="94" name="直接箭头连接符 93"/>
          <p:cNvCxnSpPr>
            <a:stCxn id="91" idx="3"/>
            <a:endCxn id="93" idx="1"/>
          </p:cNvCxnSpPr>
          <p:nvPr/>
        </p:nvCxnSpPr>
        <p:spPr>
          <a:xfrm flipV="1">
            <a:off x="3135110" y="4498194"/>
            <a:ext cx="235149" cy="107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>
            <a:stCxn id="93" idx="3"/>
            <a:endCxn id="60" idx="1"/>
          </p:cNvCxnSpPr>
          <p:nvPr/>
        </p:nvCxnSpPr>
        <p:spPr>
          <a:xfrm flipV="1">
            <a:off x="4505559" y="3443249"/>
            <a:ext cx="249828" cy="105494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>
          <a:xfrm>
            <a:off x="4755387" y="1944649"/>
            <a:ext cx="975621" cy="2997199"/>
          </a:xfrm>
          <a:prstGeom prst="rect">
            <a:avLst/>
          </a:prstGeom>
          <a:solidFill>
            <a:srgbClr val="1F99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用户确认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活动规则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1914078" y="1944649"/>
            <a:ext cx="1221032" cy="4300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新用户注册紫荆管家且认证房产</a:t>
            </a:r>
          </a:p>
        </p:txBody>
      </p:sp>
      <p:sp>
        <p:nvSpPr>
          <p:cNvPr id="91" name="矩形 90"/>
          <p:cNvSpPr/>
          <p:nvPr/>
        </p:nvSpPr>
        <p:spPr>
          <a:xfrm>
            <a:off x="1914078" y="4059376"/>
            <a:ext cx="1221032" cy="879790"/>
          </a:xfrm>
          <a:prstGeom prst="rect">
            <a:avLst/>
          </a:prstGeom>
          <a:solidFill>
            <a:srgbClr val="1F99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管家生成活动码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（一户一码）</a:t>
            </a:r>
          </a:p>
        </p:txBody>
      </p:sp>
      <p:sp>
        <p:nvSpPr>
          <p:cNvPr id="97" name="矩形 96"/>
          <p:cNvSpPr/>
          <p:nvPr/>
        </p:nvSpPr>
        <p:spPr>
          <a:xfrm>
            <a:off x="1914079" y="3623131"/>
            <a:ext cx="1221032" cy="4388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无需注册认证房产信息</a:t>
            </a:r>
          </a:p>
        </p:txBody>
      </p:sp>
      <p:sp>
        <p:nvSpPr>
          <p:cNvPr id="98" name="矩形 97"/>
          <p:cNvSpPr/>
          <p:nvPr/>
        </p:nvSpPr>
        <p:spPr>
          <a:xfrm>
            <a:off x="3370258" y="1947081"/>
            <a:ext cx="1135300" cy="883509"/>
          </a:xfrm>
          <a:prstGeom prst="rect">
            <a:avLst/>
          </a:prstGeom>
          <a:solidFill>
            <a:srgbClr val="1F99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在首页点击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banner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进入活动</a:t>
            </a:r>
          </a:p>
        </p:txBody>
      </p:sp>
      <p:sp>
        <p:nvSpPr>
          <p:cNvPr id="99" name="矩形 98"/>
          <p:cNvSpPr/>
          <p:nvPr/>
        </p:nvSpPr>
        <p:spPr>
          <a:xfrm>
            <a:off x="3380482" y="2999595"/>
            <a:ext cx="1135300" cy="883509"/>
          </a:xfrm>
          <a:prstGeom prst="rect">
            <a:avLst/>
          </a:prstGeom>
          <a:solidFill>
            <a:srgbClr val="1F99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在首页弹窗提醒，点击进入活动</a:t>
            </a:r>
          </a:p>
        </p:txBody>
      </p:sp>
      <p:cxnSp>
        <p:nvCxnSpPr>
          <p:cNvPr id="101" name="直接箭头连接符 100"/>
          <p:cNvCxnSpPr>
            <a:stCxn id="60" idx="3"/>
            <a:endCxn id="74" idx="1"/>
          </p:cNvCxnSpPr>
          <p:nvPr/>
        </p:nvCxnSpPr>
        <p:spPr>
          <a:xfrm flipV="1">
            <a:off x="5731008" y="3441411"/>
            <a:ext cx="374240" cy="183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线形标注 2 115"/>
          <p:cNvSpPr/>
          <p:nvPr/>
        </p:nvSpPr>
        <p:spPr>
          <a:xfrm>
            <a:off x="2904424" y="6166845"/>
            <a:ext cx="2826583" cy="43842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88420"/>
              <a:gd name="adj6" fmla="val -17685"/>
            </a:avLst>
          </a:prstGeom>
          <a:solidFill>
            <a:schemeClr val="bg1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</a:t>
            </a:r>
            <a:r>
              <a:rPr lang="zh-CN" altLang="en-US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业主无需认证房产也能参与抽奖活动</a:t>
            </a:r>
            <a:r>
              <a:rPr lang="zh-CN" altLang="en-US" sz="1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0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9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之前需要绑定房产，并且缴费才能抽奖，现在不需要缴清费用，扫码就可以抽奖；如果没有绑定，需要自动绑定一下（已有），才给他抽奖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线形标注 2 126"/>
          <p:cNvSpPr/>
          <p:nvPr/>
        </p:nvSpPr>
        <p:spPr>
          <a:xfrm>
            <a:off x="3279345" y="5316580"/>
            <a:ext cx="1580564" cy="43842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81838"/>
              <a:gd name="adj6" fmla="val -16629"/>
            </a:avLst>
          </a:prstGeom>
          <a:solidFill>
            <a:schemeClr val="bg1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管家可手机推送给业主参加活动。</a:t>
            </a:r>
          </a:p>
        </p:txBody>
      </p:sp>
      <p:sp>
        <p:nvSpPr>
          <p:cNvPr id="128" name="线形标注 2 127"/>
          <p:cNvSpPr/>
          <p:nvPr/>
        </p:nvSpPr>
        <p:spPr>
          <a:xfrm>
            <a:off x="6483071" y="5301428"/>
            <a:ext cx="1580564" cy="69731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49055"/>
              <a:gd name="adj6" fmla="val -16629"/>
            </a:avLst>
          </a:prstGeom>
          <a:solidFill>
            <a:schemeClr val="bg1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业主知晓活动规则后，点击确认方可抽奖，确保抽奖体验和信息安全。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97200" y="1944650"/>
            <a:ext cx="1580484" cy="2994516"/>
          </a:xfrm>
          <a:prstGeom prst="rect">
            <a:avLst/>
          </a:prstGeom>
          <a:solidFill>
            <a:srgbClr val="1F99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总部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项目后台设置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>
              <a:lnSpc>
                <a:spcPct val="150000"/>
              </a:lnSpc>
            </a:pP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、抽奖形式及规则设置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、奖品设置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、活动页图片上传</a:t>
            </a:r>
          </a:p>
        </p:txBody>
      </p:sp>
      <p:sp>
        <p:nvSpPr>
          <p:cNvPr id="133" name="右箭头 132"/>
          <p:cNvSpPr/>
          <p:nvPr/>
        </p:nvSpPr>
        <p:spPr>
          <a:xfrm>
            <a:off x="1686024" y="3161600"/>
            <a:ext cx="218315" cy="731112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000"/>
          </a:p>
        </p:txBody>
      </p:sp>
      <p:sp>
        <p:nvSpPr>
          <p:cNvPr id="161" name="线形标注 2 160"/>
          <p:cNvSpPr/>
          <p:nvPr/>
        </p:nvSpPr>
        <p:spPr>
          <a:xfrm>
            <a:off x="797553" y="5404028"/>
            <a:ext cx="1580564" cy="43842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03828"/>
              <a:gd name="adj6" fmla="val -17020"/>
            </a:avLst>
          </a:prstGeom>
          <a:solidFill>
            <a:schemeClr val="bg1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项目可灵活配置，长期使用。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</a:p>
        </p:txBody>
      </p:sp>
      <p:sp>
        <p:nvSpPr>
          <p:cNvPr id="162" name="线形标注 2 161"/>
          <p:cNvSpPr/>
          <p:nvPr/>
        </p:nvSpPr>
        <p:spPr>
          <a:xfrm>
            <a:off x="7376860" y="1371661"/>
            <a:ext cx="1580564" cy="461971"/>
          </a:xfrm>
          <a:prstGeom prst="borderCallout2">
            <a:avLst>
              <a:gd name="adj1" fmla="val 47388"/>
              <a:gd name="adj2" fmla="val 100723"/>
              <a:gd name="adj3" fmla="val 46749"/>
              <a:gd name="adj4" fmla="val 119070"/>
              <a:gd name="adj5" fmla="val 124190"/>
              <a:gd name="adj6" fmla="val 118796"/>
            </a:avLst>
          </a:prstGeom>
          <a:solidFill>
            <a:schemeClr val="bg1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5-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奖券使用与物业缴费关联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8622492" y="1944649"/>
            <a:ext cx="1250358" cy="2993524"/>
          </a:xfrm>
          <a:prstGeom prst="rect">
            <a:avLst/>
          </a:prstGeom>
          <a:solidFill>
            <a:srgbClr val="1F99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券使用需根据活动要求，缴纳规定的物业管理费、车位管理费，即可激活</a:t>
            </a:r>
          </a:p>
        </p:txBody>
      </p:sp>
      <p:cxnSp>
        <p:nvCxnSpPr>
          <p:cNvPr id="65" name="直接箭头连接符 64"/>
          <p:cNvCxnSpPr>
            <a:endCxn id="79" idx="1"/>
          </p:cNvCxnSpPr>
          <p:nvPr/>
        </p:nvCxnSpPr>
        <p:spPr>
          <a:xfrm>
            <a:off x="9872850" y="2714227"/>
            <a:ext cx="226755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endCxn id="80" idx="1"/>
          </p:cNvCxnSpPr>
          <p:nvPr/>
        </p:nvCxnSpPr>
        <p:spPr>
          <a:xfrm>
            <a:off x="9872850" y="4308690"/>
            <a:ext cx="22675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线形标注 2 87"/>
          <p:cNvSpPr/>
          <p:nvPr/>
        </p:nvSpPr>
        <p:spPr>
          <a:xfrm>
            <a:off x="9421905" y="982762"/>
            <a:ext cx="1467981" cy="461971"/>
          </a:xfrm>
          <a:prstGeom prst="borderCallout2">
            <a:avLst>
              <a:gd name="adj1" fmla="val 47388"/>
              <a:gd name="adj2" fmla="val 100723"/>
              <a:gd name="adj3" fmla="val 46749"/>
              <a:gd name="adj4" fmla="val 119070"/>
              <a:gd name="adj5" fmla="val 207633"/>
              <a:gd name="adj6" fmla="val 118796"/>
            </a:avLst>
          </a:prstGeom>
          <a:solidFill>
            <a:schemeClr val="bg1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6-【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我的卡券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支持物业抵用券在线缴费抵扣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线形标注 2 89"/>
          <p:cNvSpPr/>
          <p:nvPr/>
        </p:nvSpPr>
        <p:spPr>
          <a:xfrm>
            <a:off x="9082568" y="5316580"/>
            <a:ext cx="1580564" cy="525873"/>
          </a:xfrm>
          <a:prstGeom prst="borderCallout2">
            <a:avLst>
              <a:gd name="adj1" fmla="val 20035"/>
              <a:gd name="adj2" fmla="val 103403"/>
              <a:gd name="adj3" fmla="val 20035"/>
              <a:gd name="adj4" fmla="val 120025"/>
              <a:gd name="adj5" fmla="val -52911"/>
              <a:gd name="adj6" fmla="val 120063"/>
            </a:avLst>
          </a:prstGeom>
          <a:solidFill>
            <a:schemeClr val="bg1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7-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管家可手机核销业主实物券，提高兑奖效率。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733" y="5319118"/>
            <a:ext cx="169820" cy="169820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4605" y="6081935"/>
            <a:ext cx="169820" cy="169820"/>
          </a:xfrm>
          <a:prstGeom prst="rect">
            <a:avLst/>
          </a:prstGeom>
        </p:spPr>
      </p:pic>
      <p:pic>
        <p:nvPicPr>
          <p:cNvPr id="96" name="图片 9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525" y="5234208"/>
            <a:ext cx="169820" cy="169820"/>
          </a:xfrm>
          <a:prstGeom prst="rect">
            <a:avLst/>
          </a:prstGeom>
        </p:spPr>
      </p:pic>
      <p:pic>
        <p:nvPicPr>
          <p:cNvPr id="100" name="图片 9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3251" y="5234208"/>
            <a:ext cx="169820" cy="169820"/>
          </a:xfrm>
          <a:prstGeom prst="rect">
            <a:avLst/>
          </a:prstGeom>
        </p:spPr>
      </p:pic>
      <p:pic>
        <p:nvPicPr>
          <p:cNvPr id="102" name="图片 10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2748" y="5216518"/>
            <a:ext cx="169820" cy="169820"/>
          </a:xfrm>
          <a:prstGeom prst="rect">
            <a:avLst/>
          </a:prstGeom>
        </p:spPr>
      </p:pic>
      <p:pic>
        <p:nvPicPr>
          <p:cNvPr id="103" name="图片 10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3573" y="1274913"/>
            <a:ext cx="169820" cy="169820"/>
          </a:xfrm>
          <a:prstGeom prst="rect">
            <a:avLst/>
          </a:prstGeom>
        </p:spPr>
      </p:pic>
      <p:pic>
        <p:nvPicPr>
          <p:cNvPr id="104" name="图片 10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671" y="897852"/>
            <a:ext cx="169820" cy="169820"/>
          </a:xfrm>
          <a:prstGeom prst="rect">
            <a:avLst/>
          </a:prstGeom>
        </p:spPr>
      </p:pic>
      <p:sp>
        <p:nvSpPr>
          <p:cNvPr id="41" name="矩形 40"/>
          <p:cNvSpPr/>
          <p:nvPr/>
        </p:nvSpPr>
        <p:spPr>
          <a:xfrm>
            <a:off x="97200" y="936584"/>
            <a:ext cx="1144058" cy="37706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13" y="1051679"/>
            <a:ext cx="169820" cy="169820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290585" y="1000462"/>
            <a:ext cx="1033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新增优化项</a:t>
            </a:r>
          </a:p>
        </p:txBody>
      </p:sp>
      <p:sp>
        <p:nvSpPr>
          <p:cNvPr id="53" name="圆角矩形 52"/>
          <p:cNvSpPr/>
          <p:nvPr/>
        </p:nvSpPr>
        <p:spPr>
          <a:xfrm>
            <a:off x="2598821" y="5811253"/>
            <a:ext cx="3408947" cy="982578"/>
          </a:xfrm>
          <a:prstGeom prst="round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b="1" dirty="0" smtClean="0">
                <a:solidFill>
                  <a:srgbClr val="00B050"/>
                </a:solidFill>
              </a:rPr>
              <a:t>新增逻辑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477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矩形 2"/>
          <p:cNvSpPr/>
          <p:nvPr/>
        </p:nvSpPr>
        <p:spPr>
          <a:xfrm>
            <a:off x="78105" y="88900"/>
            <a:ext cx="7310120" cy="612775"/>
          </a:xfrm>
          <a:custGeom>
            <a:avLst/>
            <a:gdLst>
              <a:gd name="connsiteX0" fmla="*/ 0 w 6096000"/>
              <a:gd name="connsiteY0" fmla="*/ 0 h 612562"/>
              <a:gd name="connsiteX1" fmla="*/ 6096000 w 6096000"/>
              <a:gd name="connsiteY1" fmla="*/ 0 h 612562"/>
              <a:gd name="connsiteX2" fmla="*/ 6096000 w 6096000"/>
              <a:gd name="connsiteY2" fmla="*/ 612562 h 612562"/>
              <a:gd name="connsiteX3" fmla="*/ 0 w 6096000"/>
              <a:gd name="connsiteY3" fmla="*/ 612562 h 612562"/>
              <a:gd name="connsiteX4" fmla="*/ 0 w 6096000"/>
              <a:gd name="connsiteY4" fmla="*/ 0 h 612562"/>
              <a:gd name="connsiteX0-1" fmla="*/ 0 w 6096000"/>
              <a:gd name="connsiteY0-2" fmla="*/ 0 h 612562"/>
              <a:gd name="connsiteX1-3" fmla="*/ 6096000 w 6096000"/>
              <a:gd name="connsiteY1-4" fmla="*/ 0 h 612562"/>
              <a:gd name="connsiteX2-5" fmla="*/ 5927324 w 6096000"/>
              <a:gd name="connsiteY2-6" fmla="*/ 612562 h 612562"/>
              <a:gd name="connsiteX3-7" fmla="*/ 0 w 6096000"/>
              <a:gd name="connsiteY3-8" fmla="*/ 612562 h 612562"/>
              <a:gd name="connsiteX4-9" fmla="*/ 0 w 6096000"/>
              <a:gd name="connsiteY4-10" fmla="*/ 0 h 61256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096000" h="612562">
                <a:moveTo>
                  <a:pt x="0" y="0"/>
                </a:moveTo>
                <a:lnTo>
                  <a:pt x="6096000" y="0"/>
                </a:lnTo>
                <a:lnTo>
                  <a:pt x="5927324" y="612562"/>
                </a:lnTo>
                <a:lnTo>
                  <a:pt x="0" y="612562"/>
                </a:lnTo>
                <a:lnTo>
                  <a:pt x="0" y="0"/>
                </a:lnTo>
                <a:close/>
              </a:path>
            </a:pathLst>
          </a:custGeom>
          <a:solidFill>
            <a:srgbClr val="1F9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9" name="任意多边形: 形状 158"/>
          <p:cNvSpPr/>
          <p:nvPr/>
        </p:nvSpPr>
        <p:spPr>
          <a:xfrm>
            <a:off x="7308917" y="88660"/>
            <a:ext cx="470517" cy="612562"/>
          </a:xfrm>
          <a:custGeom>
            <a:avLst/>
            <a:gdLst>
              <a:gd name="connsiteX0" fmla="*/ 168676 w 470517"/>
              <a:gd name="connsiteY0" fmla="*/ 0 h 612562"/>
              <a:gd name="connsiteX1" fmla="*/ 470517 w 470517"/>
              <a:gd name="connsiteY1" fmla="*/ 0 h 612562"/>
              <a:gd name="connsiteX2" fmla="*/ 301841 w 470517"/>
              <a:gd name="connsiteY2" fmla="*/ 612562 h 612562"/>
              <a:gd name="connsiteX3" fmla="*/ 0 w 470517"/>
              <a:gd name="connsiteY3" fmla="*/ 612562 h 612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517" h="612562">
                <a:moveTo>
                  <a:pt x="168676" y="0"/>
                </a:moveTo>
                <a:lnTo>
                  <a:pt x="470517" y="0"/>
                </a:lnTo>
                <a:lnTo>
                  <a:pt x="301841" y="612562"/>
                </a:lnTo>
                <a:lnTo>
                  <a:pt x="0" y="612562"/>
                </a:lnTo>
                <a:close/>
              </a:path>
            </a:pathLst>
          </a:custGeom>
          <a:solidFill>
            <a:srgbClr val="5EBAE8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0" name="任意多边形: 形状 159"/>
          <p:cNvSpPr/>
          <p:nvPr/>
        </p:nvSpPr>
        <p:spPr>
          <a:xfrm>
            <a:off x="7717288" y="88660"/>
            <a:ext cx="304800" cy="612562"/>
          </a:xfrm>
          <a:custGeom>
            <a:avLst/>
            <a:gdLst>
              <a:gd name="connsiteX0" fmla="*/ 168676 w 304800"/>
              <a:gd name="connsiteY0" fmla="*/ 0 h 612562"/>
              <a:gd name="connsiteX1" fmla="*/ 304800 w 304800"/>
              <a:gd name="connsiteY1" fmla="*/ 0 h 612562"/>
              <a:gd name="connsiteX2" fmla="*/ 136124 w 304800"/>
              <a:gd name="connsiteY2" fmla="*/ 612562 h 612562"/>
              <a:gd name="connsiteX3" fmla="*/ 0 w 304800"/>
              <a:gd name="connsiteY3" fmla="*/ 612562 h 612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612562">
                <a:moveTo>
                  <a:pt x="168676" y="0"/>
                </a:moveTo>
                <a:lnTo>
                  <a:pt x="304800" y="0"/>
                </a:lnTo>
                <a:lnTo>
                  <a:pt x="136124" y="612562"/>
                </a:lnTo>
                <a:lnTo>
                  <a:pt x="0" y="612562"/>
                </a:lnTo>
                <a:close/>
              </a:path>
            </a:pathLst>
          </a:custGeom>
          <a:solidFill>
            <a:srgbClr val="75C4E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175400" y="157996"/>
            <a:ext cx="77616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抽奖优化展示</a:t>
            </a:r>
            <a:r>
              <a:rPr lang="en-US" altLang="zh-CN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三种抽奖渠道</a:t>
            </a:r>
            <a:endParaRPr lang="zh-CN" altLang="en-US" sz="2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54978" y="1573822"/>
            <a:ext cx="5274380" cy="5056163"/>
          </a:xfrm>
          <a:prstGeom prst="rect">
            <a:avLst/>
          </a:prstGeom>
          <a:noFill/>
          <a:ln w="28575"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54977" y="1573822"/>
            <a:ext cx="1099039" cy="5015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紫荆管家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APP/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微信端</a:t>
            </a:r>
          </a:p>
        </p:txBody>
      </p:sp>
      <p:sp>
        <p:nvSpPr>
          <p:cNvPr id="18" name="矩形 17"/>
          <p:cNvSpPr/>
          <p:nvPr/>
        </p:nvSpPr>
        <p:spPr>
          <a:xfrm>
            <a:off x="1354016" y="1580906"/>
            <a:ext cx="4175342" cy="4944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新用户需注册紫荆管家且认证房产，才可抽奖</a:t>
            </a:r>
          </a:p>
        </p:txBody>
      </p:sp>
      <p:sp>
        <p:nvSpPr>
          <p:cNvPr id="21" name="矩形 20"/>
          <p:cNvSpPr/>
          <p:nvPr/>
        </p:nvSpPr>
        <p:spPr>
          <a:xfrm>
            <a:off x="6002634" y="1580905"/>
            <a:ext cx="5222129" cy="5049080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020219" y="1580906"/>
            <a:ext cx="1099039" cy="49449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紫荆管家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管家手机端</a:t>
            </a:r>
          </a:p>
        </p:txBody>
      </p:sp>
      <p:sp>
        <p:nvSpPr>
          <p:cNvPr id="29" name="矩形 28"/>
          <p:cNvSpPr/>
          <p:nvPr/>
        </p:nvSpPr>
        <p:spPr>
          <a:xfrm>
            <a:off x="7119258" y="1580903"/>
            <a:ext cx="4105505" cy="4944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新用户无需注册认证房产信息，也能抽奖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78105" y="932693"/>
            <a:ext cx="11290935" cy="387798"/>
            <a:chOff x="3629897" y="782430"/>
            <a:chExt cx="11290935" cy="387798"/>
          </a:xfrm>
        </p:grpSpPr>
        <p:sp>
          <p:nvSpPr>
            <p:cNvPr id="31" name="矩形 30" descr="e7d195523061f1c09e9d68d7cf438b91ef959ecb14fc25d26BBA7F7DBC18E55DFF4014AF651F0BF2569D4B6C1DA7F1A4683A481403BD872FC687266AD13265C1DE7C373772FD8728ABDD69ADD03BFF5BE2862BC891DBB79ECA362327F2C95365924B9F5E2A2F64222065020C403C1D5AD12B4F1C921A48ABDBCAC331A52B9AFA367683FCECB3CC67A9A729E9597F40E6"/>
            <p:cNvSpPr/>
            <p:nvPr/>
          </p:nvSpPr>
          <p:spPr>
            <a:xfrm>
              <a:off x="4597637" y="782430"/>
              <a:ext cx="10323195" cy="3877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Roboto Condensed" panose="02000000000000000000"/>
                </a:rPr>
                <a:t>用户可通过三种渠道参与抽奖活动。通过首页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Roboto Condensed" panose="02000000000000000000"/>
                </a:rPr>
                <a:t>banner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Roboto Condensed" panose="02000000000000000000"/>
                </a:rPr>
                <a:t>、首页弹窗以及扫描管家分享的二维码进入抽奖页面。</a:t>
              </a:r>
              <a:endParaRPr lang="en-US" altLang="ko-KR" sz="1600" dirty="0">
                <a:latin typeface="微软雅黑" panose="020B0503020204020204" pitchFamily="34" charset="-122"/>
                <a:ea typeface="微软雅黑" panose="020B0503020204020204" pitchFamily="34" charset="-122"/>
                <a:cs typeface="Roboto Condensed" panose="02000000000000000000"/>
              </a:endParaRPr>
            </a:p>
          </p:txBody>
        </p:sp>
        <p:sp>
          <p:nvSpPr>
            <p:cNvPr id="32" name="TextBox 1"/>
            <p:cNvSpPr txBox="1"/>
            <p:nvPr/>
          </p:nvSpPr>
          <p:spPr>
            <a:xfrm>
              <a:off x="3629897" y="806247"/>
              <a:ext cx="119888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solidFill>
                    <a:srgbClr val="1F99D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502020204030203" charset="0"/>
                </a:rPr>
                <a:t>抽奖活动：</a:t>
              </a:r>
              <a:endParaRPr lang="vi-VN" sz="1600" b="1" dirty="0">
                <a:solidFill>
                  <a:srgbClr val="1F99D9"/>
                </a:solidFill>
                <a:latin typeface="+mn-ea"/>
                <a:ea typeface="微软雅黑" panose="020B0503020204020204" pitchFamily="34" charset="-122"/>
                <a:cs typeface="Lato Black" panose="020F0502020204030203" charset="0"/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>
            <a:xfrm>
              <a:off x="3727209" y="1109341"/>
              <a:ext cx="269967" cy="0"/>
            </a:xfrm>
            <a:prstGeom prst="line">
              <a:avLst/>
            </a:prstGeom>
            <a:ln w="19050">
              <a:solidFill>
                <a:srgbClr val="1F99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4" name="图片 33" descr="bann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486" y="2353738"/>
            <a:ext cx="1603224" cy="3726283"/>
          </a:xfrm>
          <a:prstGeom prst="rect">
            <a:avLst/>
          </a:prstGeom>
        </p:spPr>
      </p:pic>
      <p:pic>
        <p:nvPicPr>
          <p:cNvPr id="35" name="图片 34" descr="弹窗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287" y="2353738"/>
            <a:ext cx="1676482" cy="3726283"/>
          </a:xfrm>
          <a:prstGeom prst="rect">
            <a:avLst/>
          </a:prstGeom>
        </p:spPr>
      </p:pic>
      <p:sp>
        <p:nvSpPr>
          <p:cNvPr id="36" name="TextBox 1"/>
          <p:cNvSpPr txBox="1"/>
          <p:nvPr/>
        </p:nvSpPr>
        <p:spPr>
          <a:xfrm>
            <a:off x="526513" y="6201114"/>
            <a:ext cx="21977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1</a:t>
            </a:r>
            <a:r>
              <a:rPr lang="zh-CN" altLang="en-US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、首页</a:t>
            </a:r>
            <a:r>
              <a:rPr lang="en-US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-banner</a:t>
            </a:r>
            <a:r>
              <a:rPr lang="zh-CN" altLang="en-US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入口</a:t>
            </a:r>
            <a:endParaRPr lang="vi-VN" sz="1200" b="1" dirty="0">
              <a:solidFill>
                <a:srgbClr val="1F99D9"/>
              </a:solidFill>
              <a:latin typeface="+mn-ea"/>
              <a:ea typeface="微软雅黑" panose="020B0503020204020204" pitchFamily="34" charset="-122"/>
              <a:cs typeface="Lato Black" panose="020F0502020204030203" charset="0"/>
            </a:endParaRPr>
          </a:p>
        </p:txBody>
      </p:sp>
      <p:sp>
        <p:nvSpPr>
          <p:cNvPr id="37" name="TextBox 1"/>
          <p:cNvSpPr txBox="1"/>
          <p:nvPr/>
        </p:nvSpPr>
        <p:spPr>
          <a:xfrm>
            <a:off x="2791676" y="6199296"/>
            <a:ext cx="21977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2</a:t>
            </a:r>
            <a:r>
              <a:rPr lang="zh-CN" altLang="en-US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、首页</a:t>
            </a:r>
            <a:r>
              <a:rPr lang="en-US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-</a:t>
            </a:r>
            <a:r>
              <a:rPr lang="zh-CN" altLang="en-US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弹窗入口</a:t>
            </a:r>
            <a:endParaRPr lang="vi-VN" altLang="zh-CN" sz="1200" b="1" dirty="0">
              <a:solidFill>
                <a:srgbClr val="1F99D9"/>
              </a:solidFill>
              <a:latin typeface="+mn-ea"/>
              <a:ea typeface="微软雅黑" panose="020B0503020204020204" pitchFamily="34" charset="-122"/>
              <a:cs typeface="Lato Black" panose="020F0502020204030203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40486" y="2690446"/>
            <a:ext cx="1603224" cy="8352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715" y="2353738"/>
            <a:ext cx="1639850" cy="3845558"/>
          </a:xfrm>
          <a:prstGeom prst="rect">
            <a:avLst/>
          </a:prstGeom>
        </p:spPr>
      </p:pic>
      <p:sp>
        <p:nvSpPr>
          <p:cNvPr id="39" name="矩形 38"/>
          <p:cNvSpPr/>
          <p:nvPr/>
        </p:nvSpPr>
        <p:spPr>
          <a:xfrm>
            <a:off x="7553960" y="5521960"/>
            <a:ext cx="421640" cy="2133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026" name="图片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3841" y="2353738"/>
            <a:ext cx="1730724" cy="383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TextBox 1"/>
          <p:cNvSpPr txBox="1"/>
          <p:nvPr/>
        </p:nvSpPr>
        <p:spPr>
          <a:xfrm>
            <a:off x="6364473" y="6198652"/>
            <a:ext cx="21977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3</a:t>
            </a:r>
            <a:r>
              <a:rPr lang="zh-CN" altLang="en-US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、管家分享活动</a:t>
            </a:r>
          </a:p>
        </p:txBody>
      </p:sp>
      <p:sp>
        <p:nvSpPr>
          <p:cNvPr id="41" name="TextBox 1"/>
          <p:cNvSpPr txBox="1"/>
          <p:nvPr/>
        </p:nvSpPr>
        <p:spPr>
          <a:xfrm>
            <a:off x="8560350" y="6214487"/>
            <a:ext cx="21977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3</a:t>
            </a:r>
            <a:r>
              <a:rPr lang="zh-CN" altLang="en-US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、管家生成每户专属二维码</a:t>
            </a:r>
          </a:p>
        </p:txBody>
      </p:sp>
    </p:spTree>
    <p:extLst>
      <p:ext uri="{BB962C8B-B14F-4D97-AF65-F5344CB8AC3E}">
        <p14:creationId xmlns:p14="http://schemas.microsoft.com/office/powerpoint/2010/main" val="3779792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矩形 2"/>
          <p:cNvSpPr/>
          <p:nvPr/>
        </p:nvSpPr>
        <p:spPr>
          <a:xfrm>
            <a:off x="78105" y="88900"/>
            <a:ext cx="7310120" cy="612775"/>
          </a:xfrm>
          <a:custGeom>
            <a:avLst/>
            <a:gdLst>
              <a:gd name="connsiteX0" fmla="*/ 0 w 6096000"/>
              <a:gd name="connsiteY0" fmla="*/ 0 h 612562"/>
              <a:gd name="connsiteX1" fmla="*/ 6096000 w 6096000"/>
              <a:gd name="connsiteY1" fmla="*/ 0 h 612562"/>
              <a:gd name="connsiteX2" fmla="*/ 6096000 w 6096000"/>
              <a:gd name="connsiteY2" fmla="*/ 612562 h 612562"/>
              <a:gd name="connsiteX3" fmla="*/ 0 w 6096000"/>
              <a:gd name="connsiteY3" fmla="*/ 612562 h 612562"/>
              <a:gd name="connsiteX4" fmla="*/ 0 w 6096000"/>
              <a:gd name="connsiteY4" fmla="*/ 0 h 612562"/>
              <a:gd name="connsiteX0-1" fmla="*/ 0 w 6096000"/>
              <a:gd name="connsiteY0-2" fmla="*/ 0 h 612562"/>
              <a:gd name="connsiteX1-3" fmla="*/ 6096000 w 6096000"/>
              <a:gd name="connsiteY1-4" fmla="*/ 0 h 612562"/>
              <a:gd name="connsiteX2-5" fmla="*/ 5927324 w 6096000"/>
              <a:gd name="connsiteY2-6" fmla="*/ 612562 h 612562"/>
              <a:gd name="connsiteX3-7" fmla="*/ 0 w 6096000"/>
              <a:gd name="connsiteY3-8" fmla="*/ 612562 h 612562"/>
              <a:gd name="connsiteX4-9" fmla="*/ 0 w 6096000"/>
              <a:gd name="connsiteY4-10" fmla="*/ 0 h 61256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096000" h="612562">
                <a:moveTo>
                  <a:pt x="0" y="0"/>
                </a:moveTo>
                <a:lnTo>
                  <a:pt x="6096000" y="0"/>
                </a:lnTo>
                <a:lnTo>
                  <a:pt x="5927324" y="612562"/>
                </a:lnTo>
                <a:lnTo>
                  <a:pt x="0" y="612562"/>
                </a:lnTo>
                <a:lnTo>
                  <a:pt x="0" y="0"/>
                </a:lnTo>
                <a:close/>
              </a:path>
            </a:pathLst>
          </a:custGeom>
          <a:solidFill>
            <a:srgbClr val="1F9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9" name="任意多边形: 形状 158"/>
          <p:cNvSpPr/>
          <p:nvPr/>
        </p:nvSpPr>
        <p:spPr>
          <a:xfrm>
            <a:off x="7308917" y="88660"/>
            <a:ext cx="470517" cy="612562"/>
          </a:xfrm>
          <a:custGeom>
            <a:avLst/>
            <a:gdLst>
              <a:gd name="connsiteX0" fmla="*/ 168676 w 470517"/>
              <a:gd name="connsiteY0" fmla="*/ 0 h 612562"/>
              <a:gd name="connsiteX1" fmla="*/ 470517 w 470517"/>
              <a:gd name="connsiteY1" fmla="*/ 0 h 612562"/>
              <a:gd name="connsiteX2" fmla="*/ 301841 w 470517"/>
              <a:gd name="connsiteY2" fmla="*/ 612562 h 612562"/>
              <a:gd name="connsiteX3" fmla="*/ 0 w 470517"/>
              <a:gd name="connsiteY3" fmla="*/ 612562 h 612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517" h="612562">
                <a:moveTo>
                  <a:pt x="168676" y="0"/>
                </a:moveTo>
                <a:lnTo>
                  <a:pt x="470517" y="0"/>
                </a:lnTo>
                <a:lnTo>
                  <a:pt x="301841" y="612562"/>
                </a:lnTo>
                <a:lnTo>
                  <a:pt x="0" y="612562"/>
                </a:lnTo>
                <a:close/>
              </a:path>
            </a:pathLst>
          </a:custGeom>
          <a:solidFill>
            <a:srgbClr val="5EBAE8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0" name="任意多边形: 形状 159"/>
          <p:cNvSpPr/>
          <p:nvPr/>
        </p:nvSpPr>
        <p:spPr>
          <a:xfrm>
            <a:off x="7717288" y="88660"/>
            <a:ext cx="304800" cy="612562"/>
          </a:xfrm>
          <a:custGeom>
            <a:avLst/>
            <a:gdLst>
              <a:gd name="connsiteX0" fmla="*/ 168676 w 304800"/>
              <a:gd name="connsiteY0" fmla="*/ 0 h 612562"/>
              <a:gd name="connsiteX1" fmla="*/ 304800 w 304800"/>
              <a:gd name="connsiteY1" fmla="*/ 0 h 612562"/>
              <a:gd name="connsiteX2" fmla="*/ 136124 w 304800"/>
              <a:gd name="connsiteY2" fmla="*/ 612562 h 612562"/>
              <a:gd name="connsiteX3" fmla="*/ 0 w 304800"/>
              <a:gd name="connsiteY3" fmla="*/ 612562 h 612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612562">
                <a:moveTo>
                  <a:pt x="168676" y="0"/>
                </a:moveTo>
                <a:lnTo>
                  <a:pt x="304800" y="0"/>
                </a:lnTo>
                <a:lnTo>
                  <a:pt x="136124" y="612562"/>
                </a:lnTo>
                <a:lnTo>
                  <a:pt x="0" y="612562"/>
                </a:lnTo>
                <a:close/>
              </a:path>
            </a:pathLst>
          </a:custGeom>
          <a:solidFill>
            <a:srgbClr val="75C4E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175400" y="157996"/>
            <a:ext cx="77616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抽奖优化展示</a:t>
            </a:r>
            <a:r>
              <a:rPr lang="en-US" altLang="zh-CN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抽奖页面</a:t>
            </a:r>
            <a:endParaRPr lang="zh-CN" altLang="en-US" sz="2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78105" y="932693"/>
            <a:ext cx="11290935" cy="362792"/>
            <a:chOff x="3629897" y="782430"/>
            <a:chExt cx="11290935" cy="362792"/>
          </a:xfrm>
        </p:grpSpPr>
        <p:sp>
          <p:nvSpPr>
            <p:cNvPr id="31" name="矩形 30" descr="e7d195523061f1c09e9d68d7cf438b91ef959ecb14fc25d26BBA7F7DBC18E55DFF4014AF651F0BF2569D4B6C1DA7F1A4683A481403BD872FC687266AD13265C1DE7C373772FD8728ABDD69ADD03BFF5BE2862BC891DBB79ECA362327F2C95365924B9F5E2A2F64222065020C403C1D5AD12B4F1C921A48ABDBCAC331A52B9AFA367683FCECB3CC67A9A729E9597F40E6"/>
            <p:cNvSpPr/>
            <p:nvPr/>
          </p:nvSpPr>
          <p:spPr>
            <a:xfrm>
              <a:off x="4597637" y="782430"/>
              <a:ext cx="10323195" cy="3627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Roboto Condensed" panose="02000000000000000000"/>
                </a:rPr>
                <a:t>抽奖流程。</a:t>
              </a:r>
              <a:endParaRPr lang="en-US" altLang="ko-KR" sz="1600" dirty="0">
                <a:latin typeface="微软雅黑" panose="020B0503020204020204" pitchFamily="34" charset="-122"/>
                <a:ea typeface="微软雅黑" panose="020B0503020204020204" pitchFamily="34" charset="-122"/>
                <a:cs typeface="Roboto Condensed" panose="02000000000000000000"/>
              </a:endParaRPr>
            </a:p>
          </p:txBody>
        </p:sp>
        <p:sp>
          <p:nvSpPr>
            <p:cNvPr id="32" name="TextBox 1"/>
            <p:cNvSpPr txBox="1"/>
            <p:nvPr/>
          </p:nvSpPr>
          <p:spPr>
            <a:xfrm>
              <a:off x="3629897" y="806247"/>
              <a:ext cx="119888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solidFill>
                    <a:srgbClr val="1F99D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502020204030203" charset="0"/>
                </a:rPr>
                <a:t>抽奖活动：</a:t>
              </a:r>
              <a:endParaRPr lang="vi-VN" sz="1600" b="1" dirty="0">
                <a:solidFill>
                  <a:srgbClr val="1F99D9"/>
                </a:solidFill>
                <a:latin typeface="+mn-ea"/>
                <a:ea typeface="微软雅黑" panose="020B0503020204020204" pitchFamily="34" charset="-122"/>
                <a:cs typeface="Lato Black" panose="020F0502020204030203" charset="0"/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>
            <a:xfrm>
              <a:off x="3727209" y="1109341"/>
              <a:ext cx="269967" cy="0"/>
            </a:xfrm>
            <a:prstGeom prst="line">
              <a:avLst/>
            </a:prstGeom>
            <a:ln w="19050">
              <a:solidFill>
                <a:srgbClr val="1F99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50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552" y="1960884"/>
            <a:ext cx="2087554" cy="3735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图片 4" descr="活动界面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50"/>
          <a:stretch>
            <a:fillRect/>
          </a:stretch>
        </p:blipFill>
        <p:spPr bwMode="auto">
          <a:xfrm>
            <a:off x="3222485" y="1960884"/>
            <a:ext cx="1945258" cy="3735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52" name="图片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122" y="1960883"/>
            <a:ext cx="1860576" cy="3735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TextBox 1"/>
          <p:cNvSpPr txBox="1"/>
          <p:nvPr/>
        </p:nvSpPr>
        <p:spPr>
          <a:xfrm>
            <a:off x="756400" y="5851202"/>
            <a:ext cx="21977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1</a:t>
            </a:r>
            <a:r>
              <a:rPr lang="zh-CN" altLang="en-US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、活动规则</a:t>
            </a:r>
            <a:r>
              <a:rPr lang="en-US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-</a:t>
            </a:r>
            <a:r>
              <a:rPr lang="zh-CN" altLang="en-US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用户确认页</a:t>
            </a:r>
            <a:endParaRPr lang="vi-VN" sz="1200" b="1" dirty="0">
              <a:solidFill>
                <a:srgbClr val="1F99D9"/>
              </a:solidFill>
              <a:latin typeface="+mn-ea"/>
              <a:ea typeface="微软雅黑" panose="020B0503020204020204" pitchFamily="34" charset="-122"/>
              <a:cs typeface="Lato Black" panose="020F0502020204030203" charset="0"/>
            </a:endParaRPr>
          </a:p>
        </p:txBody>
      </p:sp>
      <p:sp>
        <p:nvSpPr>
          <p:cNvPr id="44" name="TextBox 1"/>
          <p:cNvSpPr txBox="1"/>
          <p:nvPr/>
        </p:nvSpPr>
        <p:spPr>
          <a:xfrm>
            <a:off x="5190519" y="5851202"/>
            <a:ext cx="21977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3</a:t>
            </a:r>
            <a:r>
              <a:rPr lang="zh-CN" altLang="en-US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、已注册绑定用户直接抽奖</a:t>
            </a:r>
            <a:endParaRPr lang="vi-VN" sz="1200" b="1" dirty="0">
              <a:solidFill>
                <a:srgbClr val="1F99D9"/>
              </a:solidFill>
              <a:latin typeface="+mn-ea"/>
              <a:ea typeface="微软雅黑" panose="020B0503020204020204" pitchFamily="34" charset="-122"/>
              <a:cs typeface="Lato Black" panose="020F0502020204030203" charset="0"/>
            </a:endParaRPr>
          </a:p>
        </p:txBody>
      </p:sp>
      <p:pic>
        <p:nvPicPr>
          <p:cNvPr id="2053" name="图片 45" descr="抽奖页面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01"/>
          <a:stretch>
            <a:fillRect/>
          </a:stretch>
        </p:blipFill>
        <p:spPr bwMode="auto">
          <a:xfrm>
            <a:off x="7869688" y="1960883"/>
            <a:ext cx="1776147" cy="373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1"/>
          <p:cNvSpPr txBox="1"/>
          <p:nvPr/>
        </p:nvSpPr>
        <p:spPr>
          <a:xfrm>
            <a:off x="7296698" y="5851201"/>
            <a:ext cx="28113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3</a:t>
            </a:r>
            <a:r>
              <a:rPr lang="zh-CN" altLang="en-US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、未注册绑定用户留手机号后抽奖</a:t>
            </a:r>
            <a:endParaRPr lang="vi-VN" sz="1200" b="1" dirty="0">
              <a:solidFill>
                <a:srgbClr val="1F99D9"/>
              </a:solidFill>
              <a:latin typeface="+mn-ea"/>
              <a:ea typeface="微软雅黑" panose="020B0503020204020204" pitchFamily="34" charset="-122"/>
              <a:cs typeface="Lato Black" panose="020F0502020204030203" charset="0"/>
            </a:endParaRPr>
          </a:p>
        </p:txBody>
      </p:sp>
      <p:sp>
        <p:nvSpPr>
          <p:cNvPr id="46" name="TextBox 1"/>
          <p:cNvSpPr txBox="1"/>
          <p:nvPr/>
        </p:nvSpPr>
        <p:spPr>
          <a:xfrm>
            <a:off x="3096261" y="5851200"/>
            <a:ext cx="21977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3</a:t>
            </a:r>
            <a:r>
              <a:rPr lang="zh-CN" altLang="en-US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、奖品展示</a:t>
            </a:r>
            <a:endParaRPr lang="vi-VN" sz="1200" b="1" dirty="0">
              <a:solidFill>
                <a:srgbClr val="1F99D9"/>
              </a:solidFill>
              <a:latin typeface="+mn-ea"/>
              <a:ea typeface="微软雅黑" panose="020B0503020204020204" pitchFamily="34" charset="-122"/>
              <a:cs typeface="Lato Black" panose="020F050202020403020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367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矩形 2"/>
          <p:cNvSpPr/>
          <p:nvPr/>
        </p:nvSpPr>
        <p:spPr>
          <a:xfrm>
            <a:off x="78105" y="88900"/>
            <a:ext cx="7310120" cy="612775"/>
          </a:xfrm>
          <a:custGeom>
            <a:avLst/>
            <a:gdLst>
              <a:gd name="connsiteX0" fmla="*/ 0 w 6096000"/>
              <a:gd name="connsiteY0" fmla="*/ 0 h 612562"/>
              <a:gd name="connsiteX1" fmla="*/ 6096000 w 6096000"/>
              <a:gd name="connsiteY1" fmla="*/ 0 h 612562"/>
              <a:gd name="connsiteX2" fmla="*/ 6096000 w 6096000"/>
              <a:gd name="connsiteY2" fmla="*/ 612562 h 612562"/>
              <a:gd name="connsiteX3" fmla="*/ 0 w 6096000"/>
              <a:gd name="connsiteY3" fmla="*/ 612562 h 612562"/>
              <a:gd name="connsiteX4" fmla="*/ 0 w 6096000"/>
              <a:gd name="connsiteY4" fmla="*/ 0 h 612562"/>
              <a:gd name="connsiteX0-1" fmla="*/ 0 w 6096000"/>
              <a:gd name="connsiteY0-2" fmla="*/ 0 h 612562"/>
              <a:gd name="connsiteX1-3" fmla="*/ 6096000 w 6096000"/>
              <a:gd name="connsiteY1-4" fmla="*/ 0 h 612562"/>
              <a:gd name="connsiteX2-5" fmla="*/ 5927324 w 6096000"/>
              <a:gd name="connsiteY2-6" fmla="*/ 612562 h 612562"/>
              <a:gd name="connsiteX3-7" fmla="*/ 0 w 6096000"/>
              <a:gd name="connsiteY3-8" fmla="*/ 612562 h 612562"/>
              <a:gd name="connsiteX4-9" fmla="*/ 0 w 6096000"/>
              <a:gd name="connsiteY4-10" fmla="*/ 0 h 61256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096000" h="612562">
                <a:moveTo>
                  <a:pt x="0" y="0"/>
                </a:moveTo>
                <a:lnTo>
                  <a:pt x="6096000" y="0"/>
                </a:lnTo>
                <a:lnTo>
                  <a:pt x="5927324" y="612562"/>
                </a:lnTo>
                <a:lnTo>
                  <a:pt x="0" y="612562"/>
                </a:lnTo>
                <a:lnTo>
                  <a:pt x="0" y="0"/>
                </a:lnTo>
                <a:close/>
              </a:path>
            </a:pathLst>
          </a:custGeom>
          <a:solidFill>
            <a:srgbClr val="1F9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9" name="任意多边形: 形状 158"/>
          <p:cNvSpPr/>
          <p:nvPr/>
        </p:nvSpPr>
        <p:spPr>
          <a:xfrm>
            <a:off x="7308917" y="88660"/>
            <a:ext cx="470517" cy="612562"/>
          </a:xfrm>
          <a:custGeom>
            <a:avLst/>
            <a:gdLst>
              <a:gd name="connsiteX0" fmla="*/ 168676 w 470517"/>
              <a:gd name="connsiteY0" fmla="*/ 0 h 612562"/>
              <a:gd name="connsiteX1" fmla="*/ 470517 w 470517"/>
              <a:gd name="connsiteY1" fmla="*/ 0 h 612562"/>
              <a:gd name="connsiteX2" fmla="*/ 301841 w 470517"/>
              <a:gd name="connsiteY2" fmla="*/ 612562 h 612562"/>
              <a:gd name="connsiteX3" fmla="*/ 0 w 470517"/>
              <a:gd name="connsiteY3" fmla="*/ 612562 h 612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517" h="612562">
                <a:moveTo>
                  <a:pt x="168676" y="0"/>
                </a:moveTo>
                <a:lnTo>
                  <a:pt x="470517" y="0"/>
                </a:lnTo>
                <a:lnTo>
                  <a:pt x="301841" y="612562"/>
                </a:lnTo>
                <a:lnTo>
                  <a:pt x="0" y="612562"/>
                </a:lnTo>
                <a:close/>
              </a:path>
            </a:pathLst>
          </a:custGeom>
          <a:solidFill>
            <a:srgbClr val="5EBAE8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0" name="任意多边形: 形状 159"/>
          <p:cNvSpPr/>
          <p:nvPr/>
        </p:nvSpPr>
        <p:spPr>
          <a:xfrm>
            <a:off x="7717288" y="88660"/>
            <a:ext cx="304800" cy="612562"/>
          </a:xfrm>
          <a:custGeom>
            <a:avLst/>
            <a:gdLst>
              <a:gd name="connsiteX0" fmla="*/ 168676 w 304800"/>
              <a:gd name="connsiteY0" fmla="*/ 0 h 612562"/>
              <a:gd name="connsiteX1" fmla="*/ 304800 w 304800"/>
              <a:gd name="connsiteY1" fmla="*/ 0 h 612562"/>
              <a:gd name="connsiteX2" fmla="*/ 136124 w 304800"/>
              <a:gd name="connsiteY2" fmla="*/ 612562 h 612562"/>
              <a:gd name="connsiteX3" fmla="*/ 0 w 304800"/>
              <a:gd name="connsiteY3" fmla="*/ 612562 h 612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612562">
                <a:moveTo>
                  <a:pt x="168676" y="0"/>
                </a:moveTo>
                <a:lnTo>
                  <a:pt x="304800" y="0"/>
                </a:lnTo>
                <a:lnTo>
                  <a:pt x="136124" y="612562"/>
                </a:lnTo>
                <a:lnTo>
                  <a:pt x="0" y="612562"/>
                </a:lnTo>
                <a:close/>
              </a:path>
            </a:pathLst>
          </a:custGeom>
          <a:solidFill>
            <a:srgbClr val="75C4E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175400" y="157996"/>
            <a:ext cx="77616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</a:t>
            </a:r>
            <a:r>
              <a:rPr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抽奖优化展示</a:t>
            </a:r>
            <a:r>
              <a:rPr lang="en-US" altLang="zh-CN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奖品兑换（物业抵用券）</a:t>
            </a:r>
            <a:endParaRPr lang="zh-CN" altLang="en-US" sz="2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78105" y="940615"/>
            <a:ext cx="5451254" cy="387798"/>
            <a:chOff x="3629897" y="790352"/>
            <a:chExt cx="5451254" cy="387798"/>
          </a:xfrm>
        </p:grpSpPr>
        <p:sp>
          <p:nvSpPr>
            <p:cNvPr id="31" name="矩形 30" descr="e7d195523061f1c09e9d68d7cf438b91ef959ecb14fc25d26BBA7F7DBC18E55DFF4014AF651F0BF2569D4B6C1DA7F1A4683A481403BD872FC687266AD13265C1DE7C373772FD8728ABDD69ADD03BFF5BE2862BC891DBB79ECA362327F2C95365924B9F5E2A2F64222065020C403C1D5AD12B4F1C921A48ABDBCAC331A52B9AFA367683FCECB3CC67A9A729E9597F40E6"/>
            <p:cNvSpPr/>
            <p:nvPr/>
          </p:nvSpPr>
          <p:spPr>
            <a:xfrm>
              <a:off x="5204307" y="790352"/>
              <a:ext cx="3876844" cy="3877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Roboto Condensed" panose="02000000000000000000"/>
                </a:rPr>
                <a:t>中奖人可通过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Roboto Condensed" panose="02000000000000000000"/>
                </a:rPr>
                <a:t>2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Roboto Condensed" panose="02000000000000000000"/>
                </a:rPr>
                <a:t>种途径使用物业抵用券。</a:t>
              </a:r>
              <a:endParaRPr lang="en-US" altLang="ko-KR" sz="1600" dirty="0">
                <a:latin typeface="微软雅黑" panose="020B0503020204020204" pitchFamily="34" charset="-122"/>
                <a:ea typeface="微软雅黑" panose="020B0503020204020204" pitchFamily="34" charset="-122"/>
                <a:cs typeface="Roboto Condensed" panose="02000000000000000000"/>
              </a:endParaRPr>
            </a:p>
          </p:txBody>
        </p:sp>
        <p:sp>
          <p:nvSpPr>
            <p:cNvPr id="32" name="TextBox 1"/>
            <p:cNvSpPr txBox="1"/>
            <p:nvPr/>
          </p:nvSpPr>
          <p:spPr>
            <a:xfrm>
              <a:off x="3629897" y="806247"/>
              <a:ext cx="182614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solidFill>
                    <a:srgbClr val="1F99D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502020204030203" charset="0"/>
                </a:rPr>
                <a:t>物业抵用券核销：</a:t>
              </a:r>
              <a:endParaRPr lang="vi-VN" sz="1600" b="1" dirty="0">
                <a:solidFill>
                  <a:srgbClr val="1F99D9"/>
                </a:solidFill>
                <a:latin typeface="+mn-ea"/>
                <a:ea typeface="微软雅黑" panose="020B0503020204020204" pitchFamily="34" charset="-122"/>
                <a:cs typeface="Lato Black" panose="020F0502020204030203" charset="0"/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>
            <a:xfrm>
              <a:off x="3727209" y="1109341"/>
              <a:ext cx="269967" cy="0"/>
            </a:xfrm>
            <a:prstGeom prst="line">
              <a:avLst/>
            </a:prstGeom>
            <a:ln w="19050">
              <a:solidFill>
                <a:srgbClr val="1F99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矩形 18"/>
          <p:cNvSpPr/>
          <p:nvPr/>
        </p:nvSpPr>
        <p:spPr>
          <a:xfrm>
            <a:off x="254978" y="1573822"/>
            <a:ext cx="5274380" cy="5056163"/>
          </a:xfrm>
          <a:prstGeom prst="rect">
            <a:avLst/>
          </a:prstGeom>
          <a:noFill/>
          <a:ln w="28575"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254977" y="1573822"/>
            <a:ext cx="1099039" cy="5015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紫荆管家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物业缴费模块</a:t>
            </a:r>
          </a:p>
        </p:txBody>
      </p:sp>
      <p:sp>
        <p:nvSpPr>
          <p:cNvPr id="21" name="矩形 20"/>
          <p:cNvSpPr/>
          <p:nvPr/>
        </p:nvSpPr>
        <p:spPr>
          <a:xfrm>
            <a:off x="1354016" y="1580906"/>
            <a:ext cx="4175342" cy="4944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抽中物业抵用券，如何在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物业缴费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激活抵用券</a:t>
            </a:r>
          </a:p>
        </p:txBody>
      </p:sp>
      <p:sp>
        <p:nvSpPr>
          <p:cNvPr id="22" name="矩形 21"/>
          <p:cNvSpPr/>
          <p:nvPr/>
        </p:nvSpPr>
        <p:spPr>
          <a:xfrm>
            <a:off x="5586786" y="1580908"/>
            <a:ext cx="5741131" cy="5049080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5604371" y="1580909"/>
            <a:ext cx="1099039" cy="49449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紫荆管家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我的卡券模块</a:t>
            </a:r>
          </a:p>
        </p:txBody>
      </p:sp>
      <p:sp>
        <p:nvSpPr>
          <p:cNvPr id="24" name="矩形 23"/>
          <p:cNvSpPr/>
          <p:nvPr/>
        </p:nvSpPr>
        <p:spPr>
          <a:xfrm>
            <a:off x="6703410" y="1580906"/>
            <a:ext cx="4624507" cy="4944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抽中物业抵用券，如何在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我的卡券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使用抵用券</a:t>
            </a:r>
          </a:p>
        </p:txBody>
      </p:sp>
      <p:sp>
        <p:nvSpPr>
          <p:cNvPr id="27" name="TextBox 1"/>
          <p:cNvSpPr txBox="1"/>
          <p:nvPr/>
        </p:nvSpPr>
        <p:spPr>
          <a:xfrm>
            <a:off x="78105" y="5562190"/>
            <a:ext cx="21977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1</a:t>
            </a:r>
            <a:r>
              <a:rPr lang="zh-CN" altLang="en-US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、首页</a:t>
            </a:r>
            <a:r>
              <a:rPr lang="en-US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-</a:t>
            </a:r>
            <a:r>
              <a:rPr lang="zh-CN" altLang="en-US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物业缴费入口</a:t>
            </a:r>
            <a:endParaRPr lang="vi-VN" sz="1200" b="1" dirty="0">
              <a:solidFill>
                <a:srgbClr val="1F99D9"/>
              </a:solidFill>
              <a:latin typeface="+mn-ea"/>
              <a:ea typeface="微软雅黑" panose="020B0503020204020204" pitchFamily="34" charset="-122"/>
              <a:cs typeface="Lato Black" panose="020F0502020204030203" charset="0"/>
            </a:endParaRPr>
          </a:p>
        </p:txBody>
      </p:sp>
      <p:sp>
        <p:nvSpPr>
          <p:cNvPr id="28" name="TextBox 1"/>
          <p:cNvSpPr txBox="1"/>
          <p:nvPr/>
        </p:nvSpPr>
        <p:spPr>
          <a:xfrm>
            <a:off x="2310982" y="5566262"/>
            <a:ext cx="11623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2</a:t>
            </a:r>
            <a:r>
              <a:rPr lang="zh-CN" altLang="en-US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、勾选账单</a:t>
            </a:r>
            <a:endParaRPr lang="vi-VN" altLang="zh-CN" sz="1200" b="1" dirty="0">
              <a:solidFill>
                <a:srgbClr val="1F99D9"/>
              </a:solidFill>
              <a:latin typeface="+mn-ea"/>
              <a:ea typeface="微软雅黑" panose="020B0503020204020204" pitchFamily="34" charset="-122"/>
              <a:cs typeface="Lato Black" panose="020F0502020204030203" charset="0"/>
            </a:endParaRPr>
          </a:p>
        </p:txBody>
      </p:sp>
      <p:sp>
        <p:nvSpPr>
          <p:cNvPr id="37" name="TextBox 1"/>
          <p:cNvSpPr txBox="1"/>
          <p:nvPr/>
        </p:nvSpPr>
        <p:spPr>
          <a:xfrm>
            <a:off x="5553849" y="5566265"/>
            <a:ext cx="1418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1</a:t>
            </a:r>
            <a:r>
              <a:rPr lang="zh-CN" altLang="en-US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、我的卡券入库</a:t>
            </a:r>
          </a:p>
        </p:txBody>
      </p:sp>
      <p:sp>
        <p:nvSpPr>
          <p:cNvPr id="38" name="TextBox 1"/>
          <p:cNvSpPr txBox="1"/>
          <p:nvPr/>
        </p:nvSpPr>
        <p:spPr>
          <a:xfrm>
            <a:off x="7004206" y="3430648"/>
            <a:ext cx="153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2</a:t>
            </a:r>
            <a:r>
              <a:rPr lang="zh-CN" altLang="en-US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、使用物业抵用券</a:t>
            </a:r>
          </a:p>
        </p:txBody>
      </p:sp>
      <p:pic>
        <p:nvPicPr>
          <p:cNvPr id="3074" name="Picture 2" descr="2a86c6844469b9d4b0dac706a2db0b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0" r="6194"/>
          <a:stretch/>
        </p:blipFill>
        <p:spPr bwMode="auto">
          <a:xfrm>
            <a:off x="592606" y="2571233"/>
            <a:ext cx="1378025" cy="2956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图片 2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501" y="2697075"/>
            <a:ext cx="1389860" cy="2898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6" name="图片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196" y="2516461"/>
            <a:ext cx="1382907" cy="2953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Box 1"/>
          <p:cNvSpPr txBox="1"/>
          <p:nvPr/>
        </p:nvSpPr>
        <p:spPr>
          <a:xfrm>
            <a:off x="3650466" y="5562190"/>
            <a:ext cx="16745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3</a:t>
            </a:r>
            <a:r>
              <a:rPr lang="zh-CN" altLang="en-US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、满足条件即可激活抵用券，在线抵扣；若勾选账单不满足抵用券使用条件，则该券为灰，不可使用</a:t>
            </a:r>
            <a:endParaRPr lang="vi-VN" altLang="zh-CN" sz="1200" b="1" dirty="0">
              <a:solidFill>
                <a:srgbClr val="1F99D9"/>
              </a:solidFill>
              <a:latin typeface="+mn-ea"/>
              <a:ea typeface="微软雅黑" panose="020B0503020204020204" pitchFamily="34" charset="-122"/>
              <a:cs typeface="Lato Black" panose="020F0502020204030203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883190" y="3855859"/>
            <a:ext cx="1337913" cy="2492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21"/>
          <a:stretch/>
        </p:blipFill>
        <p:spPr>
          <a:xfrm>
            <a:off x="5684498" y="2566891"/>
            <a:ext cx="1360017" cy="2852382"/>
          </a:xfrm>
          <a:prstGeom prst="rect">
            <a:avLst/>
          </a:prstGeom>
        </p:spPr>
      </p:pic>
      <p:sp>
        <p:nvSpPr>
          <p:cNvPr id="41" name="矩形 40"/>
          <p:cNvSpPr/>
          <p:nvPr/>
        </p:nvSpPr>
        <p:spPr>
          <a:xfrm>
            <a:off x="5698549" y="3533669"/>
            <a:ext cx="1337913" cy="1423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2227" y="2566355"/>
            <a:ext cx="1341466" cy="810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图片 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1903" y="2566355"/>
            <a:ext cx="1189163" cy="2128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" name="图片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1066" y="2516464"/>
            <a:ext cx="1382907" cy="2953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矩形 47"/>
          <p:cNvSpPr/>
          <p:nvPr/>
        </p:nvSpPr>
        <p:spPr>
          <a:xfrm>
            <a:off x="9826060" y="3855862"/>
            <a:ext cx="1337913" cy="2492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9" name="TextBox 1"/>
          <p:cNvSpPr txBox="1"/>
          <p:nvPr/>
        </p:nvSpPr>
        <p:spPr>
          <a:xfrm>
            <a:off x="8341385" y="4753319"/>
            <a:ext cx="1533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3</a:t>
            </a:r>
            <a:r>
              <a:rPr lang="zh-CN" altLang="en-US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、</a:t>
            </a:r>
            <a:r>
              <a:rPr lang="zh-CN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在线缴费</a:t>
            </a:r>
            <a:r>
              <a:rPr lang="zh-CN" altLang="en-US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活动应缴账单</a:t>
            </a:r>
            <a:r>
              <a:rPr lang="zh-CN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，支持剩余勾选</a:t>
            </a:r>
            <a:endParaRPr lang="zh-CN" altLang="en-US" sz="1200" b="1" dirty="0">
              <a:solidFill>
                <a:srgbClr val="1F99D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Black" panose="020F0502020204030203" charset="0"/>
            </a:endParaRPr>
          </a:p>
        </p:txBody>
      </p:sp>
      <p:sp>
        <p:nvSpPr>
          <p:cNvPr id="50" name="TextBox 1"/>
          <p:cNvSpPr txBox="1"/>
          <p:nvPr/>
        </p:nvSpPr>
        <p:spPr>
          <a:xfrm>
            <a:off x="9705722" y="5572153"/>
            <a:ext cx="16633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4</a:t>
            </a:r>
            <a:r>
              <a:rPr lang="zh-CN" altLang="en-US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、缴费时激活抵用券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7142227" y="3855859"/>
            <a:ext cx="1449676" cy="4739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zh-CN" altLang="en-US" sz="900" dirty="0" smtClean="0">
                <a:solidFill>
                  <a:srgbClr val="C00000"/>
                </a:solidFill>
              </a:rPr>
              <a:t>新增逻辑；使用优惠券的时候，需要检测用户是否有账单，使用的前置条件</a:t>
            </a:r>
            <a:endParaRPr lang="en-US" altLang="zh-CN" sz="900" dirty="0" smtClean="0">
              <a:solidFill>
                <a:srgbClr val="C00000"/>
              </a:solidFill>
            </a:endParaRPr>
          </a:p>
          <a:p>
            <a:r>
              <a:rPr lang="zh-CN" altLang="en-US" sz="900" dirty="0" smtClean="0">
                <a:solidFill>
                  <a:srgbClr val="C00000"/>
                </a:solidFill>
              </a:rPr>
              <a:t>状态：已使用</a:t>
            </a:r>
            <a:r>
              <a:rPr lang="en-US" altLang="zh-CN" sz="900" dirty="0" smtClean="0">
                <a:solidFill>
                  <a:srgbClr val="C00000"/>
                </a:solidFill>
              </a:rPr>
              <a:t>|</a:t>
            </a:r>
            <a:r>
              <a:rPr lang="zh-CN" altLang="en-US" sz="900" dirty="0" smtClean="0">
                <a:solidFill>
                  <a:srgbClr val="C00000"/>
                </a:solidFill>
              </a:rPr>
              <a:t>已获得</a:t>
            </a:r>
            <a:r>
              <a:rPr lang="en-US" altLang="zh-CN" sz="900" dirty="0" smtClean="0">
                <a:solidFill>
                  <a:srgbClr val="C00000"/>
                </a:solidFill>
              </a:rPr>
              <a:t>|</a:t>
            </a:r>
            <a:r>
              <a:rPr lang="zh-CN" altLang="en-US" sz="900" dirty="0" smtClean="0">
                <a:solidFill>
                  <a:srgbClr val="C00000"/>
                </a:solidFill>
              </a:rPr>
              <a:t>未使用</a:t>
            </a:r>
            <a:r>
              <a:rPr lang="en-US" altLang="zh-CN" sz="900" dirty="0" smtClean="0">
                <a:solidFill>
                  <a:srgbClr val="C00000"/>
                </a:solidFill>
              </a:rPr>
              <a:t>|</a:t>
            </a:r>
            <a:r>
              <a:rPr lang="zh-CN" altLang="en-US" sz="900" dirty="0" smtClean="0">
                <a:solidFill>
                  <a:srgbClr val="C00000"/>
                </a:solidFill>
              </a:rPr>
              <a:t>等</a:t>
            </a:r>
            <a:endParaRPr lang="zh-CN" altLang="en-US" sz="9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564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矩形 2"/>
          <p:cNvSpPr/>
          <p:nvPr/>
        </p:nvSpPr>
        <p:spPr>
          <a:xfrm>
            <a:off x="78105" y="88900"/>
            <a:ext cx="7310120" cy="612775"/>
          </a:xfrm>
          <a:custGeom>
            <a:avLst/>
            <a:gdLst>
              <a:gd name="connsiteX0" fmla="*/ 0 w 6096000"/>
              <a:gd name="connsiteY0" fmla="*/ 0 h 612562"/>
              <a:gd name="connsiteX1" fmla="*/ 6096000 w 6096000"/>
              <a:gd name="connsiteY1" fmla="*/ 0 h 612562"/>
              <a:gd name="connsiteX2" fmla="*/ 6096000 w 6096000"/>
              <a:gd name="connsiteY2" fmla="*/ 612562 h 612562"/>
              <a:gd name="connsiteX3" fmla="*/ 0 w 6096000"/>
              <a:gd name="connsiteY3" fmla="*/ 612562 h 612562"/>
              <a:gd name="connsiteX4" fmla="*/ 0 w 6096000"/>
              <a:gd name="connsiteY4" fmla="*/ 0 h 612562"/>
              <a:gd name="connsiteX0-1" fmla="*/ 0 w 6096000"/>
              <a:gd name="connsiteY0-2" fmla="*/ 0 h 612562"/>
              <a:gd name="connsiteX1-3" fmla="*/ 6096000 w 6096000"/>
              <a:gd name="connsiteY1-4" fmla="*/ 0 h 612562"/>
              <a:gd name="connsiteX2-5" fmla="*/ 5927324 w 6096000"/>
              <a:gd name="connsiteY2-6" fmla="*/ 612562 h 612562"/>
              <a:gd name="connsiteX3-7" fmla="*/ 0 w 6096000"/>
              <a:gd name="connsiteY3-8" fmla="*/ 612562 h 612562"/>
              <a:gd name="connsiteX4-9" fmla="*/ 0 w 6096000"/>
              <a:gd name="connsiteY4-10" fmla="*/ 0 h 61256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096000" h="612562">
                <a:moveTo>
                  <a:pt x="0" y="0"/>
                </a:moveTo>
                <a:lnTo>
                  <a:pt x="6096000" y="0"/>
                </a:lnTo>
                <a:lnTo>
                  <a:pt x="5927324" y="612562"/>
                </a:lnTo>
                <a:lnTo>
                  <a:pt x="0" y="612562"/>
                </a:lnTo>
                <a:lnTo>
                  <a:pt x="0" y="0"/>
                </a:lnTo>
                <a:close/>
              </a:path>
            </a:pathLst>
          </a:custGeom>
          <a:solidFill>
            <a:srgbClr val="1F9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9" name="任意多边形: 形状 158"/>
          <p:cNvSpPr/>
          <p:nvPr/>
        </p:nvSpPr>
        <p:spPr>
          <a:xfrm>
            <a:off x="7308917" y="88660"/>
            <a:ext cx="470517" cy="612562"/>
          </a:xfrm>
          <a:custGeom>
            <a:avLst/>
            <a:gdLst>
              <a:gd name="connsiteX0" fmla="*/ 168676 w 470517"/>
              <a:gd name="connsiteY0" fmla="*/ 0 h 612562"/>
              <a:gd name="connsiteX1" fmla="*/ 470517 w 470517"/>
              <a:gd name="connsiteY1" fmla="*/ 0 h 612562"/>
              <a:gd name="connsiteX2" fmla="*/ 301841 w 470517"/>
              <a:gd name="connsiteY2" fmla="*/ 612562 h 612562"/>
              <a:gd name="connsiteX3" fmla="*/ 0 w 470517"/>
              <a:gd name="connsiteY3" fmla="*/ 612562 h 612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517" h="612562">
                <a:moveTo>
                  <a:pt x="168676" y="0"/>
                </a:moveTo>
                <a:lnTo>
                  <a:pt x="470517" y="0"/>
                </a:lnTo>
                <a:lnTo>
                  <a:pt x="301841" y="612562"/>
                </a:lnTo>
                <a:lnTo>
                  <a:pt x="0" y="612562"/>
                </a:lnTo>
                <a:close/>
              </a:path>
            </a:pathLst>
          </a:custGeom>
          <a:solidFill>
            <a:srgbClr val="5EBAE8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0" name="任意多边形: 形状 159"/>
          <p:cNvSpPr/>
          <p:nvPr/>
        </p:nvSpPr>
        <p:spPr>
          <a:xfrm>
            <a:off x="7717288" y="88660"/>
            <a:ext cx="304800" cy="612562"/>
          </a:xfrm>
          <a:custGeom>
            <a:avLst/>
            <a:gdLst>
              <a:gd name="connsiteX0" fmla="*/ 168676 w 304800"/>
              <a:gd name="connsiteY0" fmla="*/ 0 h 612562"/>
              <a:gd name="connsiteX1" fmla="*/ 304800 w 304800"/>
              <a:gd name="connsiteY1" fmla="*/ 0 h 612562"/>
              <a:gd name="connsiteX2" fmla="*/ 136124 w 304800"/>
              <a:gd name="connsiteY2" fmla="*/ 612562 h 612562"/>
              <a:gd name="connsiteX3" fmla="*/ 0 w 304800"/>
              <a:gd name="connsiteY3" fmla="*/ 612562 h 612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612562">
                <a:moveTo>
                  <a:pt x="168676" y="0"/>
                </a:moveTo>
                <a:lnTo>
                  <a:pt x="304800" y="0"/>
                </a:lnTo>
                <a:lnTo>
                  <a:pt x="136124" y="612562"/>
                </a:lnTo>
                <a:lnTo>
                  <a:pt x="0" y="612562"/>
                </a:lnTo>
                <a:close/>
              </a:path>
            </a:pathLst>
          </a:custGeom>
          <a:solidFill>
            <a:srgbClr val="75C4E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175400" y="157996"/>
            <a:ext cx="77616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</a:t>
            </a:r>
            <a:r>
              <a:rPr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抽奖优化展示</a:t>
            </a:r>
            <a:r>
              <a:rPr lang="en-US" altLang="zh-CN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奖品兑换（实物兑换券）</a:t>
            </a:r>
            <a:endParaRPr lang="zh-CN" altLang="en-US" sz="2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78105" y="932693"/>
            <a:ext cx="6278276" cy="387798"/>
            <a:chOff x="3629897" y="782430"/>
            <a:chExt cx="6278276" cy="387798"/>
          </a:xfrm>
        </p:grpSpPr>
        <p:sp>
          <p:nvSpPr>
            <p:cNvPr id="31" name="矩形 30" descr="e7d195523061f1c09e9d68d7cf438b91ef959ecb14fc25d26BBA7F7DBC18E55DFF4014AF651F0BF2569D4B6C1DA7F1A4683A481403BD872FC687266AD13265C1DE7C373772FD8728ABDD69ADD03BFF5BE2862BC891DBB79ECA362327F2C95365924B9F5E2A2F64222065020C403C1D5AD12B4F1C921A48ABDBCAC331A52B9AFA367683FCECB3CC67A9A729E9597F40E6"/>
            <p:cNvSpPr/>
            <p:nvPr/>
          </p:nvSpPr>
          <p:spPr>
            <a:xfrm>
              <a:off x="4870638" y="782430"/>
              <a:ext cx="5037535" cy="3877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Roboto Condensed" panose="02000000000000000000"/>
                </a:rPr>
                <a:t>中奖人可出示兑换二维码，管家手机核销领奖</a:t>
              </a:r>
              <a:endParaRPr lang="en-US" altLang="ko-KR" sz="1600" dirty="0">
                <a:latin typeface="微软雅黑" panose="020B0503020204020204" pitchFamily="34" charset="-122"/>
                <a:ea typeface="微软雅黑" panose="020B0503020204020204" pitchFamily="34" charset="-122"/>
                <a:cs typeface="Roboto Condensed" panose="02000000000000000000"/>
              </a:endParaRPr>
            </a:p>
          </p:txBody>
        </p:sp>
        <p:sp>
          <p:nvSpPr>
            <p:cNvPr id="32" name="TextBox 1"/>
            <p:cNvSpPr txBox="1"/>
            <p:nvPr/>
          </p:nvSpPr>
          <p:spPr>
            <a:xfrm>
              <a:off x="3629897" y="806247"/>
              <a:ext cx="14157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solidFill>
                    <a:srgbClr val="1F99D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502020204030203" charset="0"/>
                </a:rPr>
                <a:t>实物券核销：</a:t>
              </a:r>
              <a:endParaRPr lang="vi-VN" sz="1600" b="1" dirty="0">
                <a:solidFill>
                  <a:srgbClr val="1F99D9"/>
                </a:solidFill>
                <a:latin typeface="+mn-ea"/>
                <a:ea typeface="微软雅黑" panose="020B0503020204020204" pitchFamily="34" charset="-122"/>
                <a:cs typeface="Lato Black" panose="020F0502020204030203" charset="0"/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>
            <a:xfrm>
              <a:off x="3727209" y="1109341"/>
              <a:ext cx="269967" cy="0"/>
            </a:xfrm>
            <a:prstGeom prst="line">
              <a:avLst/>
            </a:prstGeom>
            <a:ln w="19050">
              <a:solidFill>
                <a:srgbClr val="1F99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矩形 21"/>
          <p:cNvSpPr/>
          <p:nvPr/>
        </p:nvSpPr>
        <p:spPr>
          <a:xfrm>
            <a:off x="445384" y="1580908"/>
            <a:ext cx="10882533" cy="5049080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452082" y="1580909"/>
            <a:ext cx="1099039" cy="49449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紫荆管家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我的卡券模块</a:t>
            </a:r>
          </a:p>
        </p:txBody>
      </p:sp>
      <p:sp>
        <p:nvSpPr>
          <p:cNvPr id="24" name="矩形 23"/>
          <p:cNvSpPr/>
          <p:nvPr/>
        </p:nvSpPr>
        <p:spPr>
          <a:xfrm>
            <a:off x="1551121" y="1580906"/>
            <a:ext cx="4624507" cy="4944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手机端核销实物券</a:t>
            </a:r>
          </a:p>
        </p:txBody>
      </p:sp>
      <p:sp>
        <p:nvSpPr>
          <p:cNvPr id="37" name="TextBox 1"/>
          <p:cNvSpPr txBox="1"/>
          <p:nvPr/>
        </p:nvSpPr>
        <p:spPr>
          <a:xfrm>
            <a:off x="971156" y="6133162"/>
            <a:ext cx="1418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1</a:t>
            </a:r>
            <a:r>
              <a:rPr lang="zh-CN" altLang="en-US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、我的卡券入口</a:t>
            </a:r>
          </a:p>
        </p:txBody>
      </p:sp>
      <p:sp>
        <p:nvSpPr>
          <p:cNvPr id="38" name="TextBox 1"/>
          <p:cNvSpPr txBox="1"/>
          <p:nvPr/>
        </p:nvSpPr>
        <p:spPr>
          <a:xfrm>
            <a:off x="2462307" y="3675387"/>
            <a:ext cx="153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2</a:t>
            </a:r>
            <a:r>
              <a:rPr lang="zh-CN" altLang="en-US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、兑换奖品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21"/>
          <a:stretch/>
        </p:blipFill>
        <p:spPr>
          <a:xfrm>
            <a:off x="707889" y="2361249"/>
            <a:ext cx="1720394" cy="3608206"/>
          </a:xfrm>
          <a:prstGeom prst="rect">
            <a:avLst/>
          </a:prstGeom>
        </p:spPr>
      </p:pic>
      <p:sp>
        <p:nvSpPr>
          <p:cNvPr id="41" name="矩形 40"/>
          <p:cNvSpPr/>
          <p:nvPr/>
        </p:nvSpPr>
        <p:spPr>
          <a:xfrm>
            <a:off x="827773" y="3593563"/>
            <a:ext cx="1337913" cy="1423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026" name="图片 3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240"/>
          <a:stretch>
            <a:fillRect/>
          </a:stretch>
        </p:blipFill>
        <p:spPr bwMode="auto">
          <a:xfrm>
            <a:off x="2548167" y="2376244"/>
            <a:ext cx="1486747" cy="1217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27" name="图片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8579" y="2363137"/>
            <a:ext cx="1203385" cy="2279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"/>
          <p:cNvSpPr txBox="1"/>
          <p:nvPr/>
        </p:nvSpPr>
        <p:spPr>
          <a:xfrm>
            <a:off x="5318559" y="4724257"/>
            <a:ext cx="1600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3</a:t>
            </a:r>
            <a:r>
              <a:rPr lang="zh-CN" altLang="en-US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、激活兑换二维码</a:t>
            </a:r>
          </a:p>
        </p:txBody>
      </p:sp>
      <p:pic>
        <p:nvPicPr>
          <p:cNvPr id="1028" name="图片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7628" y="2361249"/>
            <a:ext cx="1504030" cy="359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TextBox 1"/>
          <p:cNvSpPr txBox="1"/>
          <p:nvPr/>
        </p:nvSpPr>
        <p:spPr>
          <a:xfrm>
            <a:off x="8261653" y="6105838"/>
            <a:ext cx="153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4</a:t>
            </a:r>
            <a:r>
              <a:rPr lang="zh-CN" altLang="en-US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、管家端扫码核销</a:t>
            </a:r>
          </a:p>
        </p:txBody>
      </p:sp>
      <p:pic>
        <p:nvPicPr>
          <p:cNvPr id="1029" name="图片 8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320" y="2375030"/>
            <a:ext cx="1275426" cy="298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图片 9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9252" y="2376244"/>
            <a:ext cx="1222784" cy="285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图片 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9396" y="2376244"/>
            <a:ext cx="1189163" cy="2128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Box 1"/>
          <p:cNvSpPr txBox="1"/>
          <p:nvPr/>
        </p:nvSpPr>
        <p:spPr>
          <a:xfrm>
            <a:off x="3831948" y="4586132"/>
            <a:ext cx="1533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3</a:t>
            </a:r>
            <a:r>
              <a:rPr lang="zh-CN" altLang="en-US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、</a:t>
            </a:r>
            <a:r>
              <a:rPr lang="zh-CN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在线缴费</a:t>
            </a:r>
            <a:r>
              <a:rPr lang="zh-CN" altLang="en-US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活动应缴账单</a:t>
            </a:r>
            <a:r>
              <a:rPr lang="zh-CN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，支持剩余勾选</a:t>
            </a:r>
            <a:endParaRPr lang="zh-CN" altLang="en-US" sz="1200" b="1" dirty="0">
              <a:solidFill>
                <a:srgbClr val="1F99D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Black" panose="020F050202020403020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944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矩形 2"/>
          <p:cNvSpPr/>
          <p:nvPr/>
        </p:nvSpPr>
        <p:spPr>
          <a:xfrm>
            <a:off x="78105" y="88900"/>
            <a:ext cx="7310120" cy="612775"/>
          </a:xfrm>
          <a:custGeom>
            <a:avLst/>
            <a:gdLst>
              <a:gd name="connsiteX0" fmla="*/ 0 w 6096000"/>
              <a:gd name="connsiteY0" fmla="*/ 0 h 612562"/>
              <a:gd name="connsiteX1" fmla="*/ 6096000 w 6096000"/>
              <a:gd name="connsiteY1" fmla="*/ 0 h 612562"/>
              <a:gd name="connsiteX2" fmla="*/ 6096000 w 6096000"/>
              <a:gd name="connsiteY2" fmla="*/ 612562 h 612562"/>
              <a:gd name="connsiteX3" fmla="*/ 0 w 6096000"/>
              <a:gd name="connsiteY3" fmla="*/ 612562 h 612562"/>
              <a:gd name="connsiteX4" fmla="*/ 0 w 6096000"/>
              <a:gd name="connsiteY4" fmla="*/ 0 h 612562"/>
              <a:gd name="connsiteX0-1" fmla="*/ 0 w 6096000"/>
              <a:gd name="connsiteY0-2" fmla="*/ 0 h 612562"/>
              <a:gd name="connsiteX1-3" fmla="*/ 6096000 w 6096000"/>
              <a:gd name="connsiteY1-4" fmla="*/ 0 h 612562"/>
              <a:gd name="connsiteX2-5" fmla="*/ 5927324 w 6096000"/>
              <a:gd name="connsiteY2-6" fmla="*/ 612562 h 612562"/>
              <a:gd name="connsiteX3-7" fmla="*/ 0 w 6096000"/>
              <a:gd name="connsiteY3-8" fmla="*/ 612562 h 612562"/>
              <a:gd name="connsiteX4-9" fmla="*/ 0 w 6096000"/>
              <a:gd name="connsiteY4-10" fmla="*/ 0 h 61256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096000" h="612562">
                <a:moveTo>
                  <a:pt x="0" y="0"/>
                </a:moveTo>
                <a:lnTo>
                  <a:pt x="6096000" y="0"/>
                </a:lnTo>
                <a:lnTo>
                  <a:pt x="5927324" y="612562"/>
                </a:lnTo>
                <a:lnTo>
                  <a:pt x="0" y="612562"/>
                </a:lnTo>
                <a:lnTo>
                  <a:pt x="0" y="0"/>
                </a:lnTo>
                <a:close/>
              </a:path>
            </a:pathLst>
          </a:custGeom>
          <a:solidFill>
            <a:srgbClr val="1F9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9" name="任意多边形: 形状 158"/>
          <p:cNvSpPr/>
          <p:nvPr/>
        </p:nvSpPr>
        <p:spPr>
          <a:xfrm>
            <a:off x="7308917" y="88660"/>
            <a:ext cx="470517" cy="612562"/>
          </a:xfrm>
          <a:custGeom>
            <a:avLst/>
            <a:gdLst>
              <a:gd name="connsiteX0" fmla="*/ 168676 w 470517"/>
              <a:gd name="connsiteY0" fmla="*/ 0 h 612562"/>
              <a:gd name="connsiteX1" fmla="*/ 470517 w 470517"/>
              <a:gd name="connsiteY1" fmla="*/ 0 h 612562"/>
              <a:gd name="connsiteX2" fmla="*/ 301841 w 470517"/>
              <a:gd name="connsiteY2" fmla="*/ 612562 h 612562"/>
              <a:gd name="connsiteX3" fmla="*/ 0 w 470517"/>
              <a:gd name="connsiteY3" fmla="*/ 612562 h 612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517" h="612562">
                <a:moveTo>
                  <a:pt x="168676" y="0"/>
                </a:moveTo>
                <a:lnTo>
                  <a:pt x="470517" y="0"/>
                </a:lnTo>
                <a:lnTo>
                  <a:pt x="301841" y="612562"/>
                </a:lnTo>
                <a:lnTo>
                  <a:pt x="0" y="612562"/>
                </a:lnTo>
                <a:close/>
              </a:path>
            </a:pathLst>
          </a:custGeom>
          <a:solidFill>
            <a:srgbClr val="5EBAE8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0" name="任意多边形: 形状 159"/>
          <p:cNvSpPr/>
          <p:nvPr/>
        </p:nvSpPr>
        <p:spPr>
          <a:xfrm>
            <a:off x="7717288" y="88660"/>
            <a:ext cx="304800" cy="612562"/>
          </a:xfrm>
          <a:custGeom>
            <a:avLst/>
            <a:gdLst>
              <a:gd name="connsiteX0" fmla="*/ 168676 w 304800"/>
              <a:gd name="connsiteY0" fmla="*/ 0 h 612562"/>
              <a:gd name="connsiteX1" fmla="*/ 304800 w 304800"/>
              <a:gd name="connsiteY1" fmla="*/ 0 h 612562"/>
              <a:gd name="connsiteX2" fmla="*/ 136124 w 304800"/>
              <a:gd name="connsiteY2" fmla="*/ 612562 h 612562"/>
              <a:gd name="connsiteX3" fmla="*/ 0 w 304800"/>
              <a:gd name="connsiteY3" fmla="*/ 612562 h 612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612562">
                <a:moveTo>
                  <a:pt x="168676" y="0"/>
                </a:moveTo>
                <a:lnTo>
                  <a:pt x="304800" y="0"/>
                </a:lnTo>
                <a:lnTo>
                  <a:pt x="136124" y="612562"/>
                </a:lnTo>
                <a:lnTo>
                  <a:pt x="0" y="612562"/>
                </a:lnTo>
                <a:close/>
              </a:path>
            </a:pathLst>
          </a:custGeom>
          <a:solidFill>
            <a:srgbClr val="75C4E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175400" y="157996"/>
            <a:ext cx="77616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</a:t>
            </a:r>
            <a:r>
              <a:rPr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抽奖优化展示</a:t>
            </a:r>
            <a:r>
              <a:rPr lang="en-US" altLang="zh-CN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奖品兑换（实物兑换券）</a:t>
            </a:r>
            <a:endParaRPr lang="zh-CN" altLang="en-US" sz="2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78105" y="932693"/>
            <a:ext cx="6155641" cy="387798"/>
            <a:chOff x="3629897" y="782430"/>
            <a:chExt cx="6155641" cy="387798"/>
          </a:xfrm>
        </p:grpSpPr>
        <p:sp>
          <p:nvSpPr>
            <p:cNvPr id="31" name="矩形 30" descr="e7d195523061f1c09e9d68d7cf438b91ef959ecb14fc25d26BBA7F7DBC18E55DFF4014AF651F0BF2569D4B6C1DA7F1A4683A481403BD872FC687266AD13265C1DE7C373772FD8728ABDD69ADD03BFF5BE2862BC891DBB79ECA362327F2C95365924B9F5E2A2F64222065020C403C1D5AD12B4F1C921A48ABDBCAC331A52B9AFA367683FCECB3CC67A9A729E9597F40E6"/>
            <p:cNvSpPr/>
            <p:nvPr/>
          </p:nvSpPr>
          <p:spPr>
            <a:xfrm>
              <a:off x="4870638" y="782430"/>
              <a:ext cx="4914900" cy="3877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Roboto Condensed" panose="02000000000000000000"/>
                </a:rPr>
                <a:t>中奖人可出示兑换二维码，管家电脑端核销领奖</a:t>
              </a:r>
              <a:endParaRPr lang="en-US" altLang="ko-KR" sz="1600" dirty="0">
                <a:latin typeface="微软雅黑" panose="020B0503020204020204" pitchFamily="34" charset="-122"/>
                <a:ea typeface="微软雅黑" panose="020B0503020204020204" pitchFamily="34" charset="-122"/>
                <a:cs typeface="Roboto Condensed" panose="02000000000000000000"/>
              </a:endParaRPr>
            </a:p>
          </p:txBody>
        </p:sp>
        <p:sp>
          <p:nvSpPr>
            <p:cNvPr id="32" name="TextBox 1"/>
            <p:cNvSpPr txBox="1"/>
            <p:nvPr/>
          </p:nvSpPr>
          <p:spPr>
            <a:xfrm>
              <a:off x="3629897" y="806247"/>
              <a:ext cx="14157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solidFill>
                    <a:srgbClr val="1F99D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502020204030203" charset="0"/>
                </a:rPr>
                <a:t>实物券核销：</a:t>
              </a:r>
              <a:endParaRPr lang="vi-VN" sz="1600" b="1" dirty="0">
                <a:solidFill>
                  <a:srgbClr val="1F99D9"/>
                </a:solidFill>
                <a:latin typeface="+mn-ea"/>
                <a:ea typeface="微软雅黑" panose="020B0503020204020204" pitchFamily="34" charset="-122"/>
                <a:cs typeface="Lato Black" panose="020F0502020204030203" charset="0"/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>
            <a:xfrm>
              <a:off x="3727209" y="1109341"/>
              <a:ext cx="269967" cy="0"/>
            </a:xfrm>
            <a:prstGeom prst="line">
              <a:avLst/>
            </a:prstGeom>
            <a:ln w="19050">
              <a:solidFill>
                <a:srgbClr val="1F99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矩形 24"/>
          <p:cNvSpPr/>
          <p:nvPr/>
        </p:nvSpPr>
        <p:spPr>
          <a:xfrm>
            <a:off x="254977" y="1573822"/>
            <a:ext cx="10867291" cy="5056163"/>
          </a:xfrm>
          <a:prstGeom prst="rect">
            <a:avLst/>
          </a:prstGeom>
          <a:noFill/>
          <a:ln w="28575"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54977" y="1573822"/>
            <a:ext cx="1318846" cy="5015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紫荆管家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管理端中奖记录</a:t>
            </a:r>
          </a:p>
        </p:txBody>
      </p:sp>
      <p:sp>
        <p:nvSpPr>
          <p:cNvPr id="27" name="矩形 26"/>
          <p:cNvSpPr/>
          <p:nvPr/>
        </p:nvSpPr>
        <p:spPr>
          <a:xfrm>
            <a:off x="1573822" y="1580906"/>
            <a:ext cx="3955535" cy="4944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电脑端核销实物券</a:t>
            </a:r>
          </a:p>
        </p:txBody>
      </p:sp>
      <p:pic>
        <p:nvPicPr>
          <p:cNvPr id="2050" name="图片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0430" y="3169994"/>
            <a:ext cx="2292372" cy="1384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图片 1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384" y="2874765"/>
            <a:ext cx="3704585" cy="196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52" name="图片 6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0376" y="2874765"/>
            <a:ext cx="4167353" cy="196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4" name="TextBox 1"/>
          <p:cNvSpPr txBox="1"/>
          <p:nvPr/>
        </p:nvSpPr>
        <p:spPr>
          <a:xfrm>
            <a:off x="1129417" y="5096913"/>
            <a:ext cx="1877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1</a:t>
            </a:r>
            <a:r>
              <a:rPr lang="zh-CN" altLang="en-US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、</a:t>
            </a:r>
            <a:r>
              <a:rPr lang="en-US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PC</a:t>
            </a:r>
            <a:r>
              <a:rPr lang="zh-CN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管理端中奖记录</a:t>
            </a:r>
          </a:p>
        </p:txBody>
      </p:sp>
      <p:sp>
        <p:nvSpPr>
          <p:cNvPr id="45" name="TextBox 1"/>
          <p:cNvSpPr txBox="1"/>
          <p:nvPr/>
        </p:nvSpPr>
        <p:spPr>
          <a:xfrm>
            <a:off x="5431364" y="5099952"/>
            <a:ext cx="1877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2</a:t>
            </a:r>
            <a:r>
              <a:rPr lang="zh-CN" altLang="en-US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、奖品核销发放</a:t>
            </a:r>
            <a:endParaRPr lang="zh-CN" altLang="zh-CN" sz="1200" b="1" dirty="0">
              <a:solidFill>
                <a:srgbClr val="1F99D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Black" panose="020F0502020204030203" charset="0"/>
            </a:endParaRPr>
          </a:p>
        </p:txBody>
      </p:sp>
      <p:sp>
        <p:nvSpPr>
          <p:cNvPr id="46" name="TextBox 1"/>
          <p:cNvSpPr txBox="1"/>
          <p:nvPr/>
        </p:nvSpPr>
        <p:spPr>
          <a:xfrm>
            <a:off x="8977594" y="4705082"/>
            <a:ext cx="1877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3</a:t>
            </a:r>
            <a:r>
              <a:rPr lang="zh-CN" altLang="en-US" sz="1200" b="1" dirty="0">
                <a:solidFill>
                  <a:srgbClr val="1F9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502020204030203" charset="0"/>
              </a:rPr>
              <a:t>、实物兑换券失效</a:t>
            </a:r>
            <a:endParaRPr lang="zh-CN" altLang="zh-CN" sz="1200" b="1" dirty="0">
              <a:solidFill>
                <a:srgbClr val="1F99D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Black" panose="020F050202020403020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494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矩形 2"/>
          <p:cNvSpPr/>
          <p:nvPr/>
        </p:nvSpPr>
        <p:spPr>
          <a:xfrm>
            <a:off x="78105" y="88900"/>
            <a:ext cx="7310120" cy="612775"/>
          </a:xfrm>
          <a:custGeom>
            <a:avLst/>
            <a:gdLst>
              <a:gd name="connsiteX0" fmla="*/ 0 w 6096000"/>
              <a:gd name="connsiteY0" fmla="*/ 0 h 612562"/>
              <a:gd name="connsiteX1" fmla="*/ 6096000 w 6096000"/>
              <a:gd name="connsiteY1" fmla="*/ 0 h 612562"/>
              <a:gd name="connsiteX2" fmla="*/ 6096000 w 6096000"/>
              <a:gd name="connsiteY2" fmla="*/ 612562 h 612562"/>
              <a:gd name="connsiteX3" fmla="*/ 0 w 6096000"/>
              <a:gd name="connsiteY3" fmla="*/ 612562 h 612562"/>
              <a:gd name="connsiteX4" fmla="*/ 0 w 6096000"/>
              <a:gd name="connsiteY4" fmla="*/ 0 h 612562"/>
              <a:gd name="connsiteX0-1" fmla="*/ 0 w 6096000"/>
              <a:gd name="connsiteY0-2" fmla="*/ 0 h 612562"/>
              <a:gd name="connsiteX1-3" fmla="*/ 6096000 w 6096000"/>
              <a:gd name="connsiteY1-4" fmla="*/ 0 h 612562"/>
              <a:gd name="connsiteX2-5" fmla="*/ 5927324 w 6096000"/>
              <a:gd name="connsiteY2-6" fmla="*/ 612562 h 612562"/>
              <a:gd name="connsiteX3-7" fmla="*/ 0 w 6096000"/>
              <a:gd name="connsiteY3-8" fmla="*/ 612562 h 612562"/>
              <a:gd name="connsiteX4-9" fmla="*/ 0 w 6096000"/>
              <a:gd name="connsiteY4-10" fmla="*/ 0 h 61256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096000" h="612562">
                <a:moveTo>
                  <a:pt x="0" y="0"/>
                </a:moveTo>
                <a:lnTo>
                  <a:pt x="6096000" y="0"/>
                </a:lnTo>
                <a:lnTo>
                  <a:pt x="5927324" y="612562"/>
                </a:lnTo>
                <a:lnTo>
                  <a:pt x="0" y="612562"/>
                </a:lnTo>
                <a:lnTo>
                  <a:pt x="0" y="0"/>
                </a:lnTo>
                <a:close/>
              </a:path>
            </a:pathLst>
          </a:custGeom>
          <a:solidFill>
            <a:srgbClr val="1F9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9" name="任意多边形: 形状 158"/>
          <p:cNvSpPr/>
          <p:nvPr/>
        </p:nvSpPr>
        <p:spPr>
          <a:xfrm>
            <a:off x="7308917" y="88660"/>
            <a:ext cx="470517" cy="612562"/>
          </a:xfrm>
          <a:custGeom>
            <a:avLst/>
            <a:gdLst>
              <a:gd name="connsiteX0" fmla="*/ 168676 w 470517"/>
              <a:gd name="connsiteY0" fmla="*/ 0 h 612562"/>
              <a:gd name="connsiteX1" fmla="*/ 470517 w 470517"/>
              <a:gd name="connsiteY1" fmla="*/ 0 h 612562"/>
              <a:gd name="connsiteX2" fmla="*/ 301841 w 470517"/>
              <a:gd name="connsiteY2" fmla="*/ 612562 h 612562"/>
              <a:gd name="connsiteX3" fmla="*/ 0 w 470517"/>
              <a:gd name="connsiteY3" fmla="*/ 612562 h 612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517" h="612562">
                <a:moveTo>
                  <a:pt x="168676" y="0"/>
                </a:moveTo>
                <a:lnTo>
                  <a:pt x="470517" y="0"/>
                </a:lnTo>
                <a:lnTo>
                  <a:pt x="301841" y="612562"/>
                </a:lnTo>
                <a:lnTo>
                  <a:pt x="0" y="612562"/>
                </a:lnTo>
                <a:close/>
              </a:path>
            </a:pathLst>
          </a:custGeom>
          <a:solidFill>
            <a:srgbClr val="5EBAE8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0" name="任意多边形: 形状 159"/>
          <p:cNvSpPr/>
          <p:nvPr/>
        </p:nvSpPr>
        <p:spPr>
          <a:xfrm>
            <a:off x="7717288" y="88660"/>
            <a:ext cx="304800" cy="612562"/>
          </a:xfrm>
          <a:custGeom>
            <a:avLst/>
            <a:gdLst>
              <a:gd name="connsiteX0" fmla="*/ 168676 w 304800"/>
              <a:gd name="connsiteY0" fmla="*/ 0 h 612562"/>
              <a:gd name="connsiteX1" fmla="*/ 304800 w 304800"/>
              <a:gd name="connsiteY1" fmla="*/ 0 h 612562"/>
              <a:gd name="connsiteX2" fmla="*/ 136124 w 304800"/>
              <a:gd name="connsiteY2" fmla="*/ 612562 h 612562"/>
              <a:gd name="connsiteX3" fmla="*/ 0 w 304800"/>
              <a:gd name="connsiteY3" fmla="*/ 612562 h 612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612562">
                <a:moveTo>
                  <a:pt x="168676" y="0"/>
                </a:moveTo>
                <a:lnTo>
                  <a:pt x="304800" y="0"/>
                </a:lnTo>
                <a:lnTo>
                  <a:pt x="136124" y="612562"/>
                </a:lnTo>
                <a:lnTo>
                  <a:pt x="0" y="612562"/>
                </a:lnTo>
                <a:close/>
              </a:path>
            </a:pathLst>
          </a:custGeom>
          <a:solidFill>
            <a:srgbClr val="75C4E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175400" y="157996"/>
            <a:ext cx="77616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</a:t>
            </a:r>
            <a:r>
              <a:rPr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抽奖优化展示</a:t>
            </a:r>
            <a:r>
              <a:rPr lang="en-US" altLang="zh-CN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卡券使用记录</a:t>
            </a:r>
            <a:endParaRPr lang="zh-CN" altLang="en-US" sz="2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78105" y="932693"/>
            <a:ext cx="8213041" cy="387798"/>
            <a:chOff x="3629897" y="782430"/>
            <a:chExt cx="8213041" cy="387798"/>
          </a:xfrm>
        </p:grpSpPr>
        <p:sp>
          <p:nvSpPr>
            <p:cNvPr id="31" name="矩形 30" descr="e7d195523061f1c09e9d68d7cf438b91ef959ecb14fc25d26BBA7F7DBC18E55DFF4014AF651F0BF2569D4B6C1DA7F1A4683A481403BD872FC687266AD13265C1DE7C373772FD8728ABDD69ADD03BFF5BE2862BC891DBB79ECA362327F2C95365924B9F5E2A2F64222065020C403C1D5AD12B4F1C921A48ABDBCAC331A52B9AFA367683FCECB3CC67A9A729E9597F40E6"/>
            <p:cNvSpPr/>
            <p:nvPr/>
          </p:nvSpPr>
          <p:spPr>
            <a:xfrm>
              <a:off x="5046484" y="782430"/>
              <a:ext cx="6796454" cy="3877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Roboto Condensed" panose="02000000000000000000"/>
                </a:rPr>
                <a:t>记录紫荆管家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Roboto Condensed" panose="02000000000000000000"/>
                </a:rPr>
                <a:t>物业抵用券</a:t>
              </a:r>
              <a:r>
                <a:rPr lang="zh-CN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Roboto Condensed" panose="02000000000000000000"/>
                </a:rPr>
                <a:t>、实物券使用记录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Roboto Condensed" panose="02000000000000000000"/>
                </a:rPr>
                <a:t>，便于财务对账。</a:t>
              </a:r>
              <a:endParaRPr lang="en-US" altLang="ko-KR" sz="1600" dirty="0">
                <a:latin typeface="微软雅黑" panose="020B0503020204020204" pitchFamily="34" charset="-122"/>
                <a:ea typeface="微软雅黑" panose="020B0503020204020204" pitchFamily="34" charset="-122"/>
                <a:cs typeface="Roboto Condensed" panose="02000000000000000000"/>
              </a:endParaRPr>
            </a:p>
          </p:txBody>
        </p:sp>
        <p:sp>
          <p:nvSpPr>
            <p:cNvPr id="32" name="TextBox 1"/>
            <p:cNvSpPr txBox="1"/>
            <p:nvPr/>
          </p:nvSpPr>
          <p:spPr>
            <a:xfrm>
              <a:off x="3629897" y="806247"/>
              <a:ext cx="16209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solidFill>
                    <a:srgbClr val="1F99D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502020204030203" charset="0"/>
                </a:rPr>
                <a:t>卡券使用记录：</a:t>
              </a:r>
              <a:endParaRPr lang="vi-VN" sz="1600" b="1" dirty="0">
                <a:solidFill>
                  <a:srgbClr val="1F99D9"/>
                </a:solidFill>
                <a:latin typeface="+mn-ea"/>
                <a:ea typeface="微软雅黑" panose="020B0503020204020204" pitchFamily="34" charset="-122"/>
                <a:cs typeface="Lato Black" panose="020F0502020204030203" charset="0"/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>
            <a:xfrm>
              <a:off x="3727209" y="1109341"/>
              <a:ext cx="269967" cy="0"/>
            </a:xfrm>
            <a:prstGeom prst="line">
              <a:avLst/>
            </a:prstGeom>
            <a:ln w="19050">
              <a:solidFill>
                <a:srgbClr val="1F99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74" name="图片 6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165" y="1663250"/>
            <a:ext cx="9121915" cy="4816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4013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78105" y="1608483"/>
            <a:ext cx="11321415" cy="5227895"/>
          </a:xfrm>
          <a:prstGeom prst="rect">
            <a:avLst/>
          </a:prstGeom>
          <a:solidFill>
            <a:schemeClr val="accent2">
              <a:lumMod val="20000"/>
              <a:lumOff val="8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158" name="矩形 2"/>
          <p:cNvSpPr/>
          <p:nvPr/>
        </p:nvSpPr>
        <p:spPr>
          <a:xfrm>
            <a:off x="78105" y="88900"/>
            <a:ext cx="7310120" cy="612775"/>
          </a:xfrm>
          <a:custGeom>
            <a:avLst/>
            <a:gdLst>
              <a:gd name="connsiteX0" fmla="*/ 0 w 6096000"/>
              <a:gd name="connsiteY0" fmla="*/ 0 h 612562"/>
              <a:gd name="connsiteX1" fmla="*/ 6096000 w 6096000"/>
              <a:gd name="connsiteY1" fmla="*/ 0 h 612562"/>
              <a:gd name="connsiteX2" fmla="*/ 6096000 w 6096000"/>
              <a:gd name="connsiteY2" fmla="*/ 612562 h 612562"/>
              <a:gd name="connsiteX3" fmla="*/ 0 w 6096000"/>
              <a:gd name="connsiteY3" fmla="*/ 612562 h 612562"/>
              <a:gd name="connsiteX4" fmla="*/ 0 w 6096000"/>
              <a:gd name="connsiteY4" fmla="*/ 0 h 612562"/>
              <a:gd name="connsiteX0-1" fmla="*/ 0 w 6096000"/>
              <a:gd name="connsiteY0-2" fmla="*/ 0 h 612562"/>
              <a:gd name="connsiteX1-3" fmla="*/ 6096000 w 6096000"/>
              <a:gd name="connsiteY1-4" fmla="*/ 0 h 612562"/>
              <a:gd name="connsiteX2-5" fmla="*/ 5927324 w 6096000"/>
              <a:gd name="connsiteY2-6" fmla="*/ 612562 h 612562"/>
              <a:gd name="connsiteX3-7" fmla="*/ 0 w 6096000"/>
              <a:gd name="connsiteY3-8" fmla="*/ 612562 h 612562"/>
              <a:gd name="connsiteX4-9" fmla="*/ 0 w 6096000"/>
              <a:gd name="connsiteY4-10" fmla="*/ 0 h 61256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096000" h="612562">
                <a:moveTo>
                  <a:pt x="0" y="0"/>
                </a:moveTo>
                <a:lnTo>
                  <a:pt x="6096000" y="0"/>
                </a:lnTo>
                <a:lnTo>
                  <a:pt x="5927324" y="612562"/>
                </a:lnTo>
                <a:lnTo>
                  <a:pt x="0" y="612562"/>
                </a:lnTo>
                <a:lnTo>
                  <a:pt x="0" y="0"/>
                </a:lnTo>
                <a:close/>
              </a:path>
            </a:pathLst>
          </a:custGeom>
          <a:solidFill>
            <a:srgbClr val="1F9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9" name="任意多边形: 形状 158"/>
          <p:cNvSpPr/>
          <p:nvPr/>
        </p:nvSpPr>
        <p:spPr>
          <a:xfrm>
            <a:off x="7308917" y="88660"/>
            <a:ext cx="470517" cy="612562"/>
          </a:xfrm>
          <a:custGeom>
            <a:avLst/>
            <a:gdLst>
              <a:gd name="connsiteX0" fmla="*/ 168676 w 470517"/>
              <a:gd name="connsiteY0" fmla="*/ 0 h 612562"/>
              <a:gd name="connsiteX1" fmla="*/ 470517 w 470517"/>
              <a:gd name="connsiteY1" fmla="*/ 0 h 612562"/>
              <a:gd name="connsiteX2" fmla="*/ 301841 w 470517"/>
              <a:gd name="connsiteY2" fmla="*/ 612562 h 612562"/>
              <a:gd name="connsiteX3" fmla="*/ 0 w 470517"/>
              <a:gd name="connsiteY3" fmla="*/ 612562 h 612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517" h="612562">
                <a:moveTo>
                  <a:pt x="168676" y="0"/>
                </a:moveTo>
                <a:lnTo>
                  <a:pt x="470517" y="0"/>
                </a:lnTo>
                <a:lnTo>
                  <a:pt x="301841" y="612562"/>
                </a:lnTo>
                <a:lnTo>
                  <a:pt x="0" y="612562"/>
                </a:lnTo>
                <a:close/>
              </a:path>
            </a:pathLst>
          </a:custGeom>
          <a:solidFill>
            <a:srgbClr val="5EBAE8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0" name="任意多边形: 形状 159"/>
          <p:cNvSpPr/>
          <p:nvPr/>
        </p:nvSpPr>
        <p:spPr>
          <a:xfrm>
            <a:off x="7717288" y="88660"/>
            <a:ext cx="304800" cy="612562"/>
          </a:xfrm>
          <a:custGeom>
            <a:avLst/>
            <a:gdLst>
              <a:gd name="connsiteX0" fmla="*/ 168676 w 304800"/>
              <a:gd name="connsiteY0" fmla="*/ 0 h 612562"/>
              <a:gd name="connsiteX1" fmla="*/ 304800 w 304800"/>
              <a:gd name="connsiteY1" fmla="*/ 0 h 612562"/>
              <a:gd name="connsiteX2" fmla="*/ 136124 w 304800"/>
              <a:gd name="connsiteY2" fmla="*/ 612562 h 612562"/>
              <a:gd name="connsiteX3" fmla="*/ 0 w 304800"/>
              <a:gd name="connsiteY3" fmla="*/ 612562 h 612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612562">
                <a:moveTo>
                  <a:pt x="168676" y="0"/>
                </a:moveTo>
                <a:lnTo>
                  <a:pt x="304800" y="0"/>
                </a:lnTo>
                <a:lnTo>
                  <a:pt x="136124" y="612562"/>
                </a:lnTo>
                <a:lnTo>
                  <a:pt x="0" y="612562"/>
                </a:lnTo>
                <a:close/>
              </a:path>
            </a:pathLst>
          </a:custGeom>
          <a:solidFill>
            <a:srgbClr val="75C4E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175400" y="157996"/>
            <a:ext cx="77616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2.6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抽奖优化展示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抽奖配置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78105" y="939213"/>
            <a:ext cx="8772232" cy="362792"/>
            <a:chOff x="3629897" y="788950"/>
            <a:chExt cx="8772232" cy="362792"/>
          </a:xfrm>
        </p:grpSpPr>
        <p:sp>
          <p:nvSpPr>
            <p:cNvPr id="31" name="矩形 30" descr="e7d195523061f1c09e9d68d7cf438b91ef959ecb14fc25d26BBA7F7DBC18E55DFF4014AF651F0BF2569D4B6C1DA7F1A4683A481403BD872FC687266AD13265C1DE7C373772FD8728ABDD69ADD03BFF5BE2862BC891DBB79ECA362327F2C95365924B9F5E2A2F64222065020C403C1D5AD12B4F1C921A48ABDBCAC331A52B9AFA367683FCECB3CC67A9A729E9597F40E6"/>
            <p:cNvSpPr/>
            <p:nvPr/>
          </p:nvSpPr>
          <p:spPr>
            <a:xfrm>
              <a:off x="5605675" y="788950"/>
              <a:ext cx="6796454" cy="3627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 Condensed" panose="02000000000000000000"/>
                </a:rPr>
                <a:t>支持抽奖模式切换</a:t>
              </a:r>
              <a:r>
                <a:rPr lang="zh-CN" altLang="zh-CN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 Condensed" panose="02000000000000000000"/>
                </a:rPr>
                <a:t>，</a:t>
              </a:r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 Condensed" panose="02000000000000000000"/>
                </a:rPr>
                <a:t>活动图片后台维护，</a:t>
              </a:r>
              <a:r>
                <a:rPr lang="zh-CN" altLang="zh-CN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 Condensed" panose="02000000000000000000"/>
                </a:rPr>
                <a:t>不用每次修改</a:t>
              </a:r>
              <a:r>
                <a:rPr lang="en-US" altLang="zh-CN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 Condensed" panose="02000000000000000000"/>
                </a:rPr>
                <a:t>APP</a:t>
              </a:r>
              <a:r>
                <a:rPr lang="zh-CN" altLang="zh-CN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Roboto Condensed" panose="02000000000000000000"/>
                </a:rPr>
                <a:t>上架。</a:t>
              </a:r>
            </a:p>
          </p:txBody>
        </p:sp>
        <p:sp>
          <p:nvSpPr>
            <p:cNvPr id="32" name="TextBox 1"/>
            <p:cNvSpPr txBox="1"/>
            <p:nvPr/>
          </p:nvSpPr>
          <p:spPr>
            <a:xfrm>
              <a:off x="3629897" y="806247"/>
              <a:ext cx="22365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502020204030203" charset="0"/>
                </a:rPr>
                <a:t>项目自定义灵活配置：</a:t>
              </a:r>
              <a:endParaRPr lang="vi-VN" sz="1600" b="1" dirty="0">
                <a:solidFill>
                  <a:srgbClr val="C00000"/>
                </a:solidFill>
                <a:latin typeface="+mn-ea"/>
                <a:ea typeface="微软雅黑" panose="020B0503020204020204" pitchFamily="34" charset="-122"/>
                <a:cs typeface="Lato Black" panose="020F0502020204030203" charset="0"/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>
            <a:xfrm>
              <a:off x="3727209" y="1109341"/>
              <a:ext cx="269967" cy="0"/>
            </a:xfrm>
            <a:prstGeom prst="line">
              <a:avLst/>
            </a:prstGeom>
            <a:ln w="19050">
              <a:solidFill>
                <a:srgbClr val="1F99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2859" y="4637415"/>
            <a:ext cx="949084" cy="18603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/>
          <a:srcRect r="12743"/>
          <a:stretch/>
        </p:blipFill>
        <p:spPr>
          <a:xfrm>
            <a:off x="203623" y="2098700"/>
            <a:ext cx="2636825" cy="421012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323" y="2098701"/>
            <a:ext cx="2476058" cy="3551812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5662520" y="2098700"/>
            <a:ext cx="2822057" cy="4656660"/>
            <a:chOff x="5662520" y="2098700"/>
            <a:chExt cx="2822057" cy="465666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72257" y="2098700"/>
              <a:ext cx="2812320" cy="334697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62520" y="5445680"/>
              <a:ext cx="2822057" cy="1309680"/>
            </a:xfrm>
            <a:prstGeom prst="rect">
              <a:avLst/>
            </a:prstGeom>
          </p:spPr>
        </p:pic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5451" y="2092880"/>
            <a:ext cx="2653194" cy="2480773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751840" y="1725583"/>
            <a:ext cx="1584960" cy="2615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抽奖形式和图片设置</a:t>
            </a:r>
          </a:p>
        </p:txBody>
      </p:sp>
      <p:sp>
        <p:nvSpPr>
          <p:cNvPr id="25" name="矩形 24"/>
          <p:cNvSpPr/>
          <p:nvPr/>
        </p:nvSpPr>
        <p:spPr>
          <a:xfrm>
            <a:off x="3518472" y="1725582"/>
            <a:ext cx="1381760" cy="2615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中奖概率设置</a:t>
            </a:r>
          </a:p>
        </p:txBody>
      </p:sp>
      <p:sp>
        <p:nvSpPr>
          <p:cNvPr id="26" name="矩形 25"/>
          <p:cNvSpPr/>
          <p:nvPr/>
        </p:nvSpPr>
        <p:spPr>
          <a:xfrm>
            <a:off x="6395105" y="1725581"/>
            <a:ext cx="1381760" cy="2615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奖项设置</a:t>
            </a:r>
          </a:p>
        </p:txBody>
      </p:sp>
      <p:sp>
        <p:nvSpPr>
          <p:cNvPr id="27" name="矩形 26"/>
          <p:cNvSpPr/>
          <p:nvPr/>
        </p:nvSpPr>
        <p:spPr>
          <a:xfrm>
            <a:off x="9089928" y="1719922"/>
            <a:ext cx="1669512" cy="2671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抽奖小区和玩法设置</a:t>
            </a:r>
          </a:p>
        </p:txBody>
      </p:sp>
      <p:sp>
        <p:nvSpPr>
          <p:cNvPr id="2" name="圆角矩形 1"/>
          <p:cNvSpPr/>
          <p:nvPr/>
        </p:nvSpPr>
        <p:spPr>
          <a:xfrm>
            <a:off x="372979" y="3866147"/>
            <a:ext cx="2294021" cy="101466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45384" y="3866147"/>
            <a:ext cx="2301831" cy="609600"/>
          </a:xfrm>
          <a:prstGeom prst="round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b="1" dirty="0" smtClean="0">
                <a:solidFill>
                  <a:srgbClr val="C00000"/>
                </a:solidFill>
              </a:rPr>
              <a:t>新增逻辑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08188" y="5682876"/>
            <a:ext cx="3078425" cy="3600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2768" y="6388768"/>
            <a:ext cx="2615420" cy="7432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>
                <a:solidFill>
                  <a:srgbClr val="FF0000"/>
                </a:solidFill>
              </a:rPr>
              <a:t>抽奖</a:t>
            </a:r>
            <a:r>
              <a:rPr lang="zh-CN" altLang="en-US" sz="900" dirty="0" smtClean="0">
                <a:solidFill>
                  <a:srgbClr val="FF0000"/>
                </a:solidFill>
              </a:rPr>
              <a:t>版本：</a:t>
            </a:r>
            <a:r>
              <a:rPr lang="en-US" altLang="zh-CN" sz="900" dirty="0" smtClean="0">
                <a:solidFill>
                  <a:srgbClr val="FF0000"/>
                </a:solidFill>
              </a:rPr>
              <a:t>version (1,2)</a:t>
            </a:r>
          </a:p>
          <a:p>
            <a:r>
              <a:rPr lang="zh-CN" altLang="en-US" sz="900" dirty="0" smtClean="0">
                <a:solidFill>
                  <a:srgbClr val="FF0000"/>
                </a:solidFill>
              </a:rPr>
              <a:t>中奖限制</a:t>
            </a:r>
            <a:r>
              <a:rPr lang="en-US" altLang="zh-CN" sz="900" dirty="0" smtClean="0">
                <a:solidFill>
                  <a:srgbClr val="FF0000"/>
                </a:solidFill>
              </a:rPr>
              <a:t>(</a:t>
            </a:r>
            <a:r>
              <a:rPr lang="zh-CN" altLang="en-US" sz="900" dirty="0" smtClean="0">
                <a:solidFill>
                  <a:srgbClr val="FF0000"/>
                </a:solidFill>
              </a:rPr>
              <a:t>是否与物业费关联</a:t>
            </a:r>
            <a:r>
              <a:rPr lang="en-US" altLang="zh-CN" sz="900" dirty="0" smtClean="0">
                <a:solidFill>
                  <a:srgbClr val="FF0000"/>
                </a:solidFill>
              </a:rPr>
              <a:t>)</a:t>
            </a:r>
            <a:r>
              <a:rPr lang="zh-CN" altLang="en-US" sz="900" dirty="0" smtClean="0">
                <a:solidFill>
                  <a:srgbClr val="FF0000"/>
                </a:solidFill>
              </a:rPr>
              <a:t>：</a:t>
            </a:r>
            <a:r>
              <a:rPr lang="en-US" altLang="zh-CN" sz="900" dirty="0" err="1" smtClean="0">
                <a:solidFill>
                  <a:srgbClr val="FF0000"/>
                </a:solidFill>
              </a:rPr>
              <a:t>isLimit</a:t>
            </a:r>
            <a:r>
              <a:rPr lang="en-US" altLang="zh-CN" sz="900" dirty="0" smtClean="0">
                <a:solidFill>
                  <a:srgbClr val="FF0000"/>
                </a:solidFill>
              </a:rPr>
              <a:t>(1,0)</a:t>
            </a:r>
          </a:p>
          <a:p>
            <a:r>
              <a:rPr lang="zh-CN" altLang="en-US" sz="900" dirty="0" smtClean="0">
                <a:solidFill>
                  <a:srgbClr val="FF0000"/>
                </a:solidFill>
              </a:rPr>
              <a:t>抽奖种类：</a:t>
            </a:r>
            <a:r>
              <a:rPr lang="en-US" altLang="zh-CN" sz="900" dirty="0" smtClean="0">
                <a:solidFill>
                  <a:srgbClr val="FF0000"/>
                </a:solidFill>
              </a:rPr>
              <a:t>type(</a:t>
            </a:r>
            <a:r>
              <a:rPr lang="zh-CN" altLang="en-US" sz="900" dirty="0">
                <a:solidFill>
                  <a:srgbClr val="FF0000"/>
                </a:solidFill>
              </a:rPr>
              <a:t>物业</a:t>
            </a:r>
            <a:r>
              <a:rPr lang="zh-CN" altLang="en-US" sz="900" dirty="0" smtClean="0">
                <a:solidFill>
                  <a:srgbClr val="FF0000"/>
                </a:solidFill>
              </a:rPr>
              <a:t>费</a:t>
            </a:r>
            <a:r>
              <a:rPr lang="en-US" altLang="zh-CN" sz="900" dirty="0" smtClean="0">
                <a:solidFill>
                  <a:srgbClr val="FF0000"/>
                </a:solidFill>
              </a:rPr>
              <a:t>,</a:t>
            </a:r>
            <a:r>
              <a:rPr lang="zh-CN" altLang="en-US" sz="900" dirty="0" smtClean="0">
                <a:solidFill>
                  <a:srgbClr val="FF0000"/>
                </a:solidFill>
              </a:rPr>
              <a:t>车位费</a:t>
            </a:r>
            <a:r>
              <a:rPr lang="en-US" altLang="zh-CN" sz="900" dirty="0" smtClean="0">
                <a:solidFill>
                  <a:srgbClr val="FF0000"/>
                </a:solidFill>
              </a:rPr>
              <a:t>)</a:t>
            </a:r>
          </a:p>
          <a:p>
            <a:r>
              <a:rPr lang="zh-CN" altLang="en-US" sz="900" dirty="0" smtClean="0">
                <a:solidFill>
                  <a:srgbClr val="FF0000"/>
                </a:solidFill>
              </a:rPr>
              <a:t>账单月份： </a:t>
            </a:r>
            <a:r>
              <a:rPr lang="en-US" altLang="zh-CN" sz="900" dirty="0" smtClean="0">
                <a:solidFill>
                  <a:srgbClr val="FF0000"/>
                </a:solidFill>
              </a:rPr>
              <a:t>month()</a:t>
            </a:r>
          </a:p>
          <a:p>
            <a:r>
              <a:rPr lang="zh-CN" altLang="en-US" sz="900" dirty="0" smtClean="0">
                <a:solidFill>
                  <a:srgbClr val="FF0000"/>
                </a:solidFill>
              </a:rPr>
              <a:t>是否发布： </a:t>
            </a:r>
            <a:r>
              <a:rPr lang="en-US" altLang="zh-CN" sz="900" dirty="0" err="1" smtClean="0">
                <a:solidFill>
                  <a:srgbClr val="FF0000"/>
                </a:solidFill>
              </a:rPr>
              <a:t>isPublish</a:t>
            </a:r>
            <a:endParaRPr lang="en-US" altLang="zh-CN" sz="900" dirty="0" smtClean="0">
              <a:solidFill>
                <a:srgbClr val="FF0000"/>
              </a:solidFill>
            </a:endParaRPr>
          </a:p>
          <a:p>
            <a:r>
              <a:rPr lang="zh-CN" altLang="en-US" sz="900" dirty="0" smtClean="0">
                <a:solidFill>
                  <a:srgbClr val="FF0000"/>
                </a:solidFill>
              </a:rPr>
              <a:t>图片一： </a:t>
            </a:r>
            <a:r>
              <a:rPr lang="en-US" altLang="zh-CN" sz="900" dirty="0" err="1" smtClean="0">
                <a:solidFill>
                  <a:srgbClr val="FF0000"/>
                </a:solidFill>
              </a:rPr>
              <a:t>pictureOne</a:t>
            </a:r>
            <a:endParaRPr lang="en-US" altLang="zh-CN" sz="900" dirty="0" smtClean="0">
              <a:solidFill>
                <a:srgbClr val="FF0000"/>
              </a:solidFill>
            </a:endParaRPr>
          </a:p>
          <a:p>
            <a:r>
              <a:rPr lang="zh-CN" altLang="en-US" sz="900" dirty="0" smtClean="0">
                <a:solidFill>
                  <a:srgbClr val="FF0000"/>
                </a:solidFill>
              </a:rPr>
              <a:t>图片二：</a:t>
            </a:r>
            <a:r>
              <a:rPr lang="en-US" altLang="zh-CN" sz="900" dirty="0">
                <a:solidFill>
                  <a:srgbClr val="FF0000"/>
                </a:solidFill>
              </a:rPr>
              <a:t> </a:t>
            </a:r>
            <a:r>
              <a:rPr lang="en-US" altLang="zh-CN" sz="900" dirty="0" err="1" smtClean="0">
                <a:solidFill>
                  <a:srgbClr val="FF0000"/>
                </a:solidFill>
              </a:rPr>
              <a:t>pictureTwo</a:t>
            </a:r>
            <a:endParaRPr lang="en-US" altLang="zh-CN" sz="900" dirty="0" smtClean="0">
              <a:solidFill>
                <a:srgbClr val="FF0000"/>
              </a:solidFill>
            </a:endParaRPr>
          </a:p>
          <a:p>
            <a:endParaRPr lang="en-US" altLang="zh-CN" sz="900" dirty="0" smtClean="0">
              <a:solidFill>
                <a:srgbClr val="FF0000"/>
              </a:solidFill>
            </a:endParaRPr>
          </a:p>
          <a:p>
            <a:endParaRPr lang="en-US" altLang="zh-CN" sz="900" dirty="0" smtClean="0">
              <a:solidFill>
                <a:srgbClr val="FF0000"/>
              </a:solidFill>
            </a:endParaRPr>
          </a:p>
          <a:p>
            <a:endParaRPr lang="en-US" altLang="zh-CN" sz="900" dirty="0" smtClean="0">
              <a:solidFill>
                <a:srgbClr val="FF0000"/>
              </a:solidFill>
            </a:endParaRPr>
          </a:p>
          <a:p>
            <a:endParaRPr lang="en-US" altLang="zh-CN" sz="900" dirty="0">
              <a:solidFill>
                <a:srgbClr val="FF0000"/>
              </a:solidFill>
            </a:endParaRPr>
          </a:p>
          <a:p>
            <a:r>
              <a:rPr lang="zh-CN" altLang="en-US" sz="900" dirty="0" smtClean="0">
                <a:solidFill>
                  <a:srgbClr val="FF0000"/>
                </a:solidFill>
              </a:rPr>
              <a:t>支持</a:t>
            </a:r>
            <a:r>
              <a:rPr lang="en-US" altLang="zh-CN" sz="900" dirty="0">
                <a:solidFill>
                  <a:srgbClr val="FF0000"/>
                </a:solidFill>
              </a:rPr>
              <a:t>2</a:t>
            </a:r>
            <a:r>
              <a:rPr lang="zh-CN" altLang="en-US" sz="900" dirty="0">
                <a:solidFill>
                  <a:srgbClr val="FF0000"/>
                </a:solidFill>
              </a:rPr>
              <a:t>种版本的配置方式，页面需要添加一个选择</a:t>
            </a:r>
            <a:r>
              <a:rPr lang="zh-CN" altLang="en-US" sz="900" dirty="0" smtClean="0">
                <a:solidFill>
                  <a:srgbClr val="FF0000"/>
                </a:solidFill>
              </a:rPr>
              <a:t>项（下拉框，抽奖版本，</a:t>
            </a:r>
            <a:r>
              <a:rPr lang="en-US" altLang="zh-CN" sz="900" dirty="0" smtClean="0">
                <a:solidFill>
                  <a:srgbClr val="FF0000"/>
                </a:solidFill>
              </a:rPr>
              <a:t>V1</a:t>
            </a:r>
            <a:r>
              <a:rPr lang="zh-CN" altLang="en-US" sz="900" dirty="0" smtClean="0">
                <a:solidFill>
                  <a:srgbClr val="FF0000"/>
                </a:solidFill>
              </a:rPr>
              <a:t>，</a:t>
            </a:r>
            <a:r>
              <a:rPr lang="en-US" altLang="zh-CN" sz="900" dirty="0" smtClean="0">
                <a:solidFill>
                  <a:srgbClr val="FF0000"/>
                </a:solidFill>
              </a:rPr>
              <a:t>V2</a:t>
            </a:r>
            <a:r>
              <a:rPr lang="zh-CN" altLang="en-US" sz="900" dirty="0" smtClean="0">
                <a:solidFill>
                  <a:srgbClr val="FF0000"/>
                </a:solidFill>
              </a:rPr>
              <a:t>）：</a:t>
            </a:r>
            <a:endParaRPr lang="en-US" altLang="zh-CN" sz="900" dirty="0">
              <a:solidFill>
                <a:srgbClr val="FF0000"/>
              </a:solidFill>
            </a:endParaRPr>
          </a:p>
          <a:p>
            <a:pPr marL="228600" indent="-228600">
              <a:buAutoNum type="arabicPeriod"/>
            </a:pPr>
            <a:r>
              <a:rPr lang="zh-CN" altLang="en-US" sz="900" dirty="0">
                <a:solidFill>
                  <a:srgbClr val="FF0000"/>
                </a:solidFill>
              </a:rPr>
              <a:t>是之前的，通过前置条件</a:t>
            </a:r>
            <a:r>
              <a:rPr lang="zh-CN" altLang="en-US" sz="900" dirty="0" smtClean="0">
                <a:solidFill>
                  <a:srgbClr val="FF0000"/>
                </a:solidFill>
              </a:rPr>
              <a:t>控制，输入月份</a:t>
            </a:r>
            <a:endParaRPr lang="en-US" altLang="zh-CN" sz="900" dirty="0">
              <a:solidFill>
                <a:srgbClr val="FF0000"/>
              </a:solidFill>
            </a:endParaRPr>
          </a:p>
          <a:p>
            <a:pPr marL="228600" indent="-228600">
              <a:buAutoNum type="arabicPeriod"/>
            </a:pPr>
            <a:r>
              <a:rPr lang="zh-CN" altLang="en-US" sz="900" dirty="0">
                <a:solidFill>
                  <a:srgbClr val="FF0000"/>
                </a:solidFill>
              </a:rPr>
              <a:t>最新的，通过新增的</a:t>
            </a:r>
            <a:r>
              <a:rPr lang="zh-CN" altLang="en-US" sz="900" dirty="0" smtClean="0">
                <a:solidFill>
                  <a:srgbClr val="FF0000"/>
                </a:solidFill>
              </a:rPr>
              <a:t>逻辑控制，</a:t>
            </a:r>
            <a:endParaRPr lang="en-US" altLang="zh-CN" sz="900" dirty="0">
              <a:solidFill>
                <a:srgbClr val="FF0000"/>
              </a:solidFill>
            </a:endParaRPr>
          </a:p>
          <a:p>
            <a:endParaRPr lang="en-US" altLang="zh-CN" sz="900" dirty="0" smtClean="0">
              <a:solidFill>
                <a:srgbClr val="FF0000"/>
              </a:solidFill>
            </a:endParaRPr>
          </a:p>
          <a:p>
            <a:endParaRPr lang="en-US" altLang="zh-CN" sz="900" dirty="0">
              <a:solidFill>
                <a:srgbClr val="FF0000"/>
              </a:solidFill>
            </a:endParaRPr>
          </a:p>
          <a:p>
            <a:r>
              <a:rPr lang="zh-CN" altLang="en-US" sz="900" dirty="0" smtClean="0">
                <a:solidFill>
                  <a:srgbClr val="FF0000"/>
                </a:solidFill>
              </a:rPr>
              <a:t>中奖兑换限制：</a:t>
            </a:r>
            <a:endParaRPr lang="en-US" altLang="zh-CN" sz="900" dirty="0" smtClean="0">
              <a:solidFill>
                <a:srgbClr val="FF0000"/>
              </a:solidFill>
            </a:endParaRPr>
          </a:p>
          <a:p>
            <a:pPr marL="228600" indent="-228600">
              <a:buAutoNum type="arabicPeriod"/>
            </a:pPr>
            <a:r>
              <a:rPr lang="zh-CN" altLang="en-US" sz="900" dirty="0" smtClean="0">
                <a:solidFill>
                  <a:srgbClr val="FF0000"/>
                </a:solidFill>
              </a:rPr>
              <a:t>否，物业费，车位费，不受限制</a:t>
            </a:r>
            <a:endParaRPr lang="en-US" altLang="zh-CN" sz="900" dirty="0" smtClean="0">
              <a:solidFill>
                <a:srgbClr val="FF0000"/>
              </a:solidFill>
            </a:endParaRPr>
          </a:p>
          <a:p>
            <a:pPr marL="228600" indent="-228600">
              <a:buAutoNum type="arabicPeriod"/>
            </a:pPr>
            <a:r>
              <a:rPr lang="zh-CN" altLang="en-US" sz="900" dirty="0" smtClean="0">
                <a:solidFill>
                  <a:srgbClr val="FF0000"/>
                </a:solidFill>
              </a:rPr>
              <a:t>是，需要限制</a:t>
            </a:r>
            <a:endParaRPr lang="en-US" altLang="zh-CN" sz="900" dirty="0">
              <a:solidFill>
                <a:srgbClr val="FF0000"/>
              </a:solidFill>
            </a:endParaRPr>
          </a:p>
          <a:p>
            <a:endParaRPr lang="en-US" altLang="zh-CN" sz="900" dirty="0">
              <a:solidFill>
                <a:srgbClr val="FF0000"/>
              </a:solidFill>
            </a:endParaRPr>
          </a:p>
          <a:p>
            <a:r>
              <a:rPr lang="en-US" altLang="zh-CN" sz="900" dirty="0" smtClean="0">
                <a:solidFill>
                  <a:srgbClr val="FF0000"/>
                </a:solidFill>
              </a:rPr>
              <a:t>1</a:t>
            </a:r>
            <a:r>
              <a:rPr lang="zh-CN" altLang="en-US" sz="900" dirty="0">
                <a:solidFill>
                  <a:srgbClr val="FF0000"/>
                </a:solidFill>
              </a:rPr>
              <a:t>、缴费种类是否支持多</a:t>
            </a:r>
            <a:r>
              <a:rPr lang="zh-CN" altLang="en-US" sz="900" dirty="0" smtClean="0">
                <a:solidFill>
                  <a:srgbClr val="FF0000"/>
                </a:solidFill>
              </a:rPr>
              <a:t>选（支持多选）</a:t>
            </a:r>
            <a:endParaRPr lang="en-US" altLang="zh-CN" sz="900" dirty="0" smtClean="0">
              <a:solidFill>
                <a:srgbClr val="FF0000"/>
              </a:solidFill>
            </a:endParaRPr>
          </a:p>
          <a:p>
            <a:r>
              <a:rPr lang="en-US" altLang="zh-CN" sz="900" dirty="0" smtClean="0">
                <a:solidFill>
                  <a:srgbClr val="FF0000"/>
                </a:solidFill>
              </a:rPr>
              <a:t>2</a:t>
            </a:r>
            <a:r>
              <a:rPr lang="zh-CN" altLang="en-US" sz="900" dirty="0">
                <a:solidFill>
                  <a:srgbClr val="FF0000"/>
                </a:solidFill>
              </a:rPr>
              <a:t>、哪些类型的</a:t>
            </a:r>
            <a:r>
              <a:rPr lang="zh-CN" altLang="en-US" sz="900" dirty="0" smtClean="0">
                <a:solidFill>
                  <a:srgbClr val="FF0000"/>
                </a:solidFill>
              </a:rPr>
              <a:t>（通用</a:t>
            </a:r>
            <a:r>
              <a:rPr lang="en-US" altLang="zh-CN" sz="900" dirty="0" smtClean="0">
                <a:solidFill>
                  <a:srgbClr val="FF0000"/>
                </a:solidFill>
              </a:rPr>
              <a:t>|</a:t>
            </a:r>
            <a:r>
              <a:rPr lang="zh-CN" altLang="en-US" sz="900" dirty="0" smtClean="0">
                <a:solidFill>
                  <a:srgbClr val="FF0000"/>
                </a:solidFill>
              </a:rPr>
              <a:t>专用</a:t>
            </a:r>
            <a:r>
              <a:rPr lang="en-US" altLang="zh-CN" sz="900" dirty="0">
                <a:solidFill>
                  <a:srgbClr val="FF0000"/>
                </a:solidFill>
              </a:rPr>
              <a:t>|</a:t>
            </a:r>
            <a:r>
              <a:rPr lang="zh-CN" altLang="en-US" sz="900" dirty="0">
                <a:solidFill>
                  <a:srgbClr val="FF0000"/>
                </a:solidFill>
              </a:rPr>
              <a:t>卡券）优惠券需要增加缴费种类账单使用条件</a:t>
            </a:r>
            <a:r>
              <a:rPr lang="zh-CN" altLang="en-US" sz="900" dirty="0" smtClean="0">
                <a:solidFill>
                  <a:srgbClr val="FF0000"/>
                </a:solidFill>
              </a:rPr>
              <a:t>判断；</a:t>
            </a:r>
            <a:endParaRPr lang="en-US" altLang="zh-CN" sz="900" dirty="0" smtClean="0">
              <a:solidFill>
                <a:srgbClr val="FF0000"/>
              </a:solidFill>
            </a:endParaRPr>
          </a:p>
          <a:p>
            <a:r>
              <a:rPr lang="zh-CN" altLang="en-US" sz="900" dirty="0" smtClean="0">
                <a:solidFill>
                  <a:srgbClr val="FF0000"/>
                </a:solidFill>
              </a:rPr>
              <a:t>确认： 对应的是专用，编辑的时候，人工控制</a:t>
            </a:r>
            <a:endParaRPr lang="en-US" altLang="zh-CN" sz="900" dirty="0" smtClean="0">
              <a:solidFill>
                <a:srgbClr val="FF0000"/>
              </a:solidFill>
            </a:endParaRPr>
          </a:p>
          <a:p>
            <a:endParaRPr lang="en-US" altLang="zh-CN" sz="900" dirty="0">
              <a:solidFill>
                <a:srgbClr val="FF0000"/>
              </a:solidFill>
            </a:endParaRPr>
          </a:p>
          <a:p>
            <a:r>
              <a:rPr lang="en-US" altLang="zh-CN" sz="900" dirty="0">
                <a:solidFill>
                  <a:srgbClr val="FF0000"/>
                </a:solidFill>
              </a:rPr>
              <a:t>4</a:t>
            </a:r>
            <a:r>
              <a:rPr lang="en-US" altLang="zh-CN" sz="900" dirty="0" smtClean="0">
                <a:solidFill>
                  <a:srgbClr val="FF0000"/>
                </a:solidFill>
              </a:rPr>
              <a:t>. </a:t>
            </a:r>
            <a:r>
              <a:rPr lang="zh-CN" altLang="en-US" sz="900" dirty="0" smtClean="0">
                <a:solidFill>
                  <a:srgbClr val="FF0000"/>
                </a:solidFill>
              </a:rPr>
              <a:t>应缴账单周期月份：</a:t>
            </a:r>
            <a:endParaRPr lang="en-US" altLang="zh-CN" sz="900" dirty="0" smtClean="0">
              <a:solidFill>
                <a:srgbClr val="FF0000"/>
              </a:solidFill>
            </a:endParaRPr>
          </a:p>
          <a:p>
            <a:r>
              <a:rPr lang="en-US" altLang="zh-CN" sz="900" dirty="0">
                <a:solidFill>
                  <a:srgbClr val="FF0000"/>
                </a:solidFill>
              </a:rPr>
              <a:t> </a:t>
            </a:r>
            <a:r>
              <a:rPr lang="en-US" altLang="zh-CN" sz="900" dirty="0" smtClean="0">
                <a:solidFill>
                  <a:srgbClr val="FF0000"/>
                </a:solidFill>
              </a:rPr>
              <a:t>  </a:t>
            </a:r>
            <a:r>
              <a:rPr lang="zh-CN" altLang="en-US" sz="900" dirty="0" smtClean="0">
                <a:solidFill>
                  <a:srgbClr val="FF0000"/>
                </a:solidFill>
              </a:rPr>
              <a:t>比如：设置</a:t>
            </a:r>
            <a:r>
              <a:rPr lang="en-US" altLang="zh-CN" sz="900" dirty="0" smtClean="0">
                <a:solidFill>
                  <a:srgbClr val="FF0000"/>
                </a:solidFill>
              </a:rPr>
              <a:t>2024-11 </a:t>
            </a:r>
            <a:r>
              <a:rPr lang="zh-CN" altLang="en-US" sz="900" dirty="0" smtClean="0">
                <a:solidFill>
                  <a:srgbClr val="FF0000"/>
                </a:solidFill>
              </a:rPr>
              <a:t>，校验的时候，</a:t>
            </a:r>
            <a:r>
              <a:rPr lang="en-US" altLang="zh-CN" sz="900" dirty="0" smtClean="0">
                <a:solidFill>
                  <a:srgbClr val="FF0000"/>
                </a:solidFill>
              </a:rPr>
              <a:t>2024-11</a:t>
            </a:r>
            <a:r>
              <a:rPr lang="zh-CN" altLang="en-US" sz="900" dirty="0" smtClean="0">
                <a:solidFill>
                  <a:srgbClr val="FF0000"/>
                </a:solidFill>
              </a:rPr>
              <a:t>之前的比如，</a:t>
            </a:r>
            <a:r>
              <a:rPr lang="en-US" altLang="zh-CN" sz="900" dirty="0" smtClean="0">
                <a:solidFill>
                  <a:srgbClr val="FF0000"/>
                </a:solidFill>
              </a:rPr>
              <a:t>11</a:t>
            </a:r>
            <a:r>
              <a:rPr lang="zh-CN" altLang="en-US" sz="900" dirty="0" smtClean="0">
                <a:solidFill>
                  <a:srgbClr val="FF0000"/>
                </a:solidFill>
              </a:rPr>
              <a:t>月，</a:t>
            </a:r>
            <a:r>
              <a:rPr lang="en-US" altLang="zh-CN" sz="900" dirty="0" smtClean="0">
                <a:solidFill>
                  <a:srgbClr val="FF0000"/>
                </a:solidFill>
              </a:rPr>
              <a:t>10</a:t>
            </a:r>
            <a:r>
              <a:rPr lang="zh-CN" altLang="en-US" sz="900" dirty="0" smtClean="0">
                <a:solidFill>
                  <a:srgbClr val="FF0000"/>
                </a:solidFill>
              </a:rPr>
              <a:t>月</a:t>
            </a:r>
            <a:endParaRPr lang="en-US" altLang="zh-CN" sz="900" dirty="0" smtClean="0">
              <a:solidFill>
                <a:srgbClr val="FF0000"/>
              </a:solidFill>
            </a:endParaRPr>
          </a:p>
          <a:p>
            <a:r>
              <a:rPr lang="en-US" altLang="zh-CN" sz="900" dirty="0" smtClean="0">
                <a:solidFill>
                  <a:srgbClr val="FF0000"/>
                </a:solidFill>
              </a:rPr>
              <a:t>4. </a:t>
            </a:r>
            <a:r>
              <a:rPr lang="zh-CN" altLang="en-US" sz="900" dirty="0" smtClean="0">
                <a:solidFill>
                  <a:srgbClr val="FF0000"/>
                </a:solidFill>
              </a:rPr>
              <a:t>物业费用，只能抵扣物业费用，车位费用，只能抵扣车费用</a:t>
            </a:r>
            <a:endParaRPr lang="en-US" altLang="zh-CN" sz="900" dirty="0" smtClean="0">
              <a:solidFill>
                <a:srgbClr val="FF0000"/>
              </a:solidFill>
            </a:endParaRPr>
          </a:p>
          <a:p>
            <a:r>
              <a:rPr lang="en-US" altLang="zh-CN" sz="900" dirty="0" smtClean="0">
                <a:solidFill>
                  <a:srgbClr val="FF0000"/>
                </a:solidFill>
              </a:rPr>
              <a:t>5.</a:t>
            </a:r>
            <a:r>
              <a:rPr lang="zh-CN" altLang="en-US" sz="900" dirty="0" smtClean="0">
                <a:solidFill>
                  <a:srgbClr val="FF0000"/>
                </a:solidFill>
              </a:rPr>
              <a:t>是否在管家端发布：</a:t>
            </a:r>
            <a:endParaRPr lang="en-US" altLang="zh-CN" sz="900" dirty="0" smtClean="0">
              <a:solidFill>
                <a:srgbClr val="FF0000"/>
              </a:solidFill>
            </a:endParaRPr>
          </a:p>
          <a:p>
            <a:r>
              <a:rPr lang="en-US" altLang="zh-CN" sz="900" dirty="0">
                <a:solidFill>
                  <a:srgbClr val="FF0000"/>
                </a:solidFill>
              </a:rPr>
              <a:t> </a:t>
            </a:r>
            <a:r>
              <a:rPr lang="en-US" altLang="zh-CN" sz="900" dirty="0" smtClean="0">
                <a:solidFill>
                  <a:srgbClr val="FF0000"/>
                </a:solidFill>
              </a:rPr>
              <a:t>  </a:t>
            </a:r>
            <a:r>
              <a:rPr lang="zh-CN" altLang="en-US" sz="900" dirty="0" smtClean="0">
                <a:solidFill>
                  <a:srgbClr val="FF0000"/>
                </a:solidFill>
              </a:rPr>
              <a:t>是：管家端可以提供活动的二维码给用户，进行扫码抽奖</a:t>
            </a:r>
            <a:r>
              <a:rPr lang="en-US" altLang="zh-CN" sz="900" dirty="0" smtClean="0">
                <a:solidFill>
                  <a:srgbClr val="FF0000"/>
                </a:solidFill>
              </a:rPr>
              <a:t>;</a:t>
            </a:r>
            <a:r>
              <a:rPr lang="zh-CN" altLang="en-US" sz="900" dirty="0" smtClean="0">
                <a:solidFill>
                  <a:srgbClr val="FF0000"/>
                </a:solidFill>
              </a:rPr>
              <a:t>用户可以同时登录</a:t>
            </a:r>
            <a:r>
              <a:rPr lang="zh-CN" altLang="en-US" sz="900" dirty="0">
                <a:solidFill>
                  <a:srgbClr val="FF0000"/>
                </a:solidFill>
              </a:rPr>
              <a:t>，自己在活动页面抽奖</a:t>
            </a:r>
            <a:endParaRPr lang="en-US" altLang="zh-CN" sz="900" dirty="0">
              <a:solidFill>
                <a:srgbClr val="FF0000"/>
              </a:solidFill>
            </a:endParaRPr>
          </a:p>
          <a:p>
            <a:endParaRPr lang="en-US" altLang="zh-CN" sz="900" dirty="0" smtClean="0">
              <a:solidFill>
                <a:srgbClr val="FF0000"/>
              </a:solidFill>
            </a:endParaRPr>
          </a:p>
          <a:p>
            <a:r>
              <a:rPr lang="en-US" altLang="zh-CN" sz="900" dirty="0">
                <a:solidFill>
                  <a:srgbClr val="FF0000"/>
                </a:solidFill>
              </a:rPr>
              <a:t> </a:t>
            </a:r>
            <a:r>
              <a:rPr lang="en-US" altLang="zh-CN" sz="900" dirty="0" smtClean="0">
                <a:solidFill>
                  <a:srgbClr val="FF0000"/>
                </a:solidFill>
              </a:rPr>
              <a:t>  </a:t>
            </a:r>
            <a:r>
              <a:rPr lang="zh-CN" altLang="en-US" sz="900" dirty="0" smtClean="0">
                <a:solidFill>
                  <a:srgbClr val="FF0000"/>
                </a:solidFill>
              </a:rPr>
              <a:t>否：</a:t>
            </a:r>
            <a:r>
              <a:rPr lang="zh-CN" altLang="en-US" sz="900" dirty="0">
                <a:solidFill>
                  <a:srgbClr val="FF0000"/>
                </a:solidFill>
              </a:rPr>
              <a:t>管家</a:t>
            </a:r>
            <a:r>
              <a:rPr lang="zh-CN" altLang="en-US" sz="900" dirty="0" smtClean="0">
                <a:solidFill>
                  <a:srgbClr val="FF0000"/>
                </a:solidFill>
              </a:rPr>
              <a:t>端不可以</a:t>
            </a:r>
            <a:r>
              <a:rPr lang="zh-CN" altLang="en-US" sz="900" dirty="0">
                <a:solidFill>
                  <a:srgbClr val="FF0000"/>
                </a:solidFill>
              </a:rPr>
              <a:t>提供活动的二维码给用户</a:t>
            </a:r>
            <a:r>
              <a:rPr lang="zh-CN" altLang="en-US" sz="900" dirty="0" smtClean="0">
                <a:solidFill>
                  <a:srgbClr val="FF0000"/>
                </a:solidFill>
              </a:rPr>
              <a:t>，不能进行</a:t>
            </a:r>
            <a:r>
              <a:rPr lang="zh-CN" altLang="en-US" sz="900" dirty="0">
                <a:solidFill>
                  <a:srgbClr val="FF0000"/>
                </a:solidFill>
              </a:rPr>
              <a:t>扫码</a:t>
            </a:r>
            <a:r>
              <a:rPr lang="zh-CN" altLang="en-US" sz="900" dirty="0" smtClean="0">
                <a:solidFill>
                  <a:srgbClr val="FF0000"/>
                </a:solidFill>
              </a:rPr>
              <a:t>抽奖</a:t>
            </a:r>
            <a:r>
              <a:rPr lang="en-US" altLang="zh-CN" sz="900" dirty="0" smtClean="0">
                <a:solidFill>
                  <a:srgbClr val="FF0000"/>
                </a:solidFill>
              </a:rPr>
              <a:t>;</a:t>
            </a:r>
            <a:r>
              <a:rPr lang="zh-CN" altLang="en-US" sz="900" dirty="0" smtClean="0">
                <a:solidFill>
                  <a:srgbClr val="FF0000"/>
                </a:solidFill>
              </a:rPr>
              <a:t>只能用户登录，自己在活动页面抽奖</a:t>
            </a:r>
            <a:endParaRPr lang="en-US" altLang="zh-CN" sz="900" dirty="0" smtClean="0">
              <a:solidFill>
                <a:srgbClr val="FF0000"/>
              </a:solidFill>
            </a:endParaRPr>
          </a:p>
          <a:p>
            <a:endParaRPr lang="en-US" altLang="zh-CN" sz="900" dirty="0">
              <a:solidFill>
                <a:srgbClr val="FF0000"/>
              </a:solidFill>
            </a:endParaRPr>
          </a:p>
          <a:p>
            <a:r>
              <a:rPr lang="en-US" altLang="zh-CN" sz="900" dirty="0" smtClean="0">
                <a:solidFill>
                  <a:srgbClr val="FF0000"/>
                </a:solidFill>
              </a:rPr>
              <a:t>6. </a:t>
            </a:r>
            <a:r>
              <a:rPr lang="zh-CN" altLang="en-US" sz="900" dirty="0" smtClean="0">
                <a:solidFill>
                  <a:srgbClr val="FF0000"/>
                </a:solidFill>
              </a:rPr>
              <a:t>图片各一张</a:t>
            </a:r>
            <a:endParaRPr lang="en-US" altLang="zh-CN" sz="900" dirty="0" smtClean="0">
              <a:solidFill>
                <a:srgbClr val="FF0000"/>
              </a:solidFill>
            </a:endParaRPr>
          </a:p>
          <a:p>
            <a:r>
              <a:rPr lang="en-US" altLang="zh-CN" sz="900" dirty="0">
                <a:solidFill>
                  <a:srgbClr val="FF0000"/>
                </a:solidFill>
              </a:rPr>
              <a:t> </a:t>
            </a:r>
            <a:r>
              <a:rPr lang="en-US" altLang="zh-CN" sz="900" dirty="0" smtClean="0">
                <a:solidFill>
                  <a:srgbClr val="FF0000"/>
                </a:solidFill>
              </a:rPr>
              <a:t> </a:t>
            </a:r>
            <a:r>
              <a:rPr lang="zh-CN" altLang="en-US" sz="900" dirty="0" smtClean="0">
                <a:solidFill>
                  <a:srgbClr val="FF0000"/>
                </a:solidFill>
              </a:rPr>
              <a:t>弹窗图片：</a:t>
            </a:r>
            <a:endParaRPr lang="en-US" altLang="zh-CN" sz="900" dirty="0" smtClean="0">
              <a:solidFill>
                <a:srgbClr val="FF0000"/>
              </a:solidFill>
            </a:endParaRPr>
          </a:p>
          <a:p>
            <a:r>
              <a:rPr lang="en-US" altLang="zh-CN" sz="900" dirty="0">
                <a:solidFill>
                  <a:srgbClr val="FF0000"/>
                </a:solidFill>
              </a:rPr>
              <a:t> </a:t>
            </a:r>
            <a:r>
              <a:rPr lang="en-US" altLang="zh-CN" sz="900" dirty="0" smtClean="0">
                <a:solidFill>
                  <a:srgbClr val="FF0000"/>
                </a:solidFill>
              </a:rPr>
              <a:t> </a:t>
            </a:r>
            <a:r>
              <a:rPr lang="zh-CN" altLang="en-US" sz="900" dirty="0" smtClean="0">
                <a:solidFill>
                  <a:srgbClr val="FF0000"/>
                </a:solidFill>
              </a:rPr>
              <a:t>活动封面：首页</a:t>
            </a:r>
            <a:r>
              <a:rPr lang="en-US" altLang="zh-CN" sz="900" dirty="0" smtClean="0">
                <a:solidFill>
                  <a:srgbClr val="FF0000"/>
                </a:solidFill>
              </a:rPr>
              <a:t>banner </a:t>
            </a:r>
            <a:r>
              <a:rPr lang="zh-CN" altLang="en-US" sz="900" dirty="0" smtClean="0">
                <a:solidFill>
                  <a:srgbClr val="FF0000"/>
                </a:solidFill>
              </a:rPr>
              <a:t>图片</a:t>
            </a:r>
            <a:endParaRPr lang="en-US" altLang="zh-CN" sz="900" dirty="0">
              <a:solidFill>
                <a:srgbClr val="FF0000"/>
              </a:solidFill>
            </a:endParaRPr>
          </a:p>
          <a:p>
            <a:endParaRPr lang="en-US" altLang="zh-CN" sz="900" dirty="0">
              <a:solidFill>
                <a:srgbClr val="FF0000"/>
              </a:solidFill>
            </a:endParaRPr>
          </a:p>
          <a:p>
            <a:r>
              <a:rPr lang="zh-CN" altLang="en-US" sz="900" dirty="0" smtClean="0">
                <a:solidFill>
                  <a:srgbClr val="FF0000"/>
                </a:solidFill>
              </a:rPr>
              <a:t>是</a:t>
            </a:r>
            <a:r>
              <a:rPr lang="en-US" altLang="zh-CN" sz="900" dirty="0" smtClean="0">
                <a:solidFill>
                  <a:srgbClr val="FF0000"/>
                </a:solidFill>
              </a:rPr>
              <a:t>|</a:t>
            </a:r>
            <a:r>
              <a:rPr lang="zh-CN" altLang="en-US" sz="900" dirty="0" smtClean="0">
                <a:solidFill>
                  <a:srgbClr val="FF0000"/>
                </a:solidFill>
              </a:rPr>
              <a:t>否：控制是否限制抽取优惠券，</a:t>
            </a:r>
            <a:endParaRPr lang="en-US" altLang="zh-CN" sz="900" dirty="0" smtClean="0">
              <a:solidFill>
                <a:srgbClr val="FF0000"/>
              </a:solidFill>
            </a:endParaRPr>
          </a:p>
          <a:p>
            <a:r>
              <a:rPr lang="zh-CN" altLang="en-US" sz="900" dirty="0" smtClean="0">
                <a:solidFill>
                  <a:srgbClr val="FF0000"/>
                </a:solidFill>
              </a:rPr>
              <a:t>是： 下面的配置条件生效</a:t>
            </a:r>
            <a:endParaRPr lang="en-US" altLang="zh-CN" sz="900" dirty="0" smtClean="0">
              <a:solidFill>
                <a:srgbClr val="FF0000"/>
              </a:solidFill>
            </a:endParaRPr>
          </a:p>
          <a:p>
            <a:r>
              <a:rPr lang="zh-CN" altLang="en-US" sz="900" dirty="0" smtClean="0">
                <a:solidFill>
                  <a:srgbClr val="FF0000"/>
                </a:solidFill>
              </a:rPr>
              <a:t>否： 不受限制</a:t>
            </a:r>
            <a:endParaRPr lang="en-US" altLang="zh-CN" sz="900" dirty="0" smtClean="0">
              <a:solidFill>
                <a:srgbClr val="FF0000"/>
              </a:solidFill>
            </a:endParaRPr>
          </a:p>
          <a:p>
            <a:endParaRPr lang="en-US" altLang="zh-CN" sz="900" dirty="0">
              <a:solidFill>
                <a:srgbClr val="FF0000"/>
              </a:solidFill>
            </a:endParaRPr>
          </a:p>
          <a:p>
            <a:endParaRPr lang="en-US" altLang="zh-CN" sz="900" dirty="0" smtClean="0">
              <a:solidFill>
                <a:srgbClr val="FF0000"/>
              </a:solidFill>
            </a:endParaRPr>
          </a:p>
          <a:p>
            <a:pPr marL="228600" indent="-228600">
              <a:buAutoNum type="arabicPeriod"/>
            </a:pPr>
            <a:endParaRPr lang="en-US" altLang="zh-CN" sz="900" dirty="0">
              <a:solidFill>
                <a:srgbClr val="FF0000"/>
              </a:solidFill>
            </a:endParaRPr>
          </a:p>
          <a:p>
            <a:pPr marL="228600" indent="-228600">
              <a:buAutoNum type="arabicPeriod"/>
            </a:pPr>
            <a:endParaRPr lang="en-US" altLang="zh-CN" sz="900" dirty="0">
              <a:solidFill>
                <a:srgbClr val="FF0000"/>
              </a:solidFill>
            </a:endParaRPr>
          </a:p>
          <a:p>
            <a:endParaRPr lang="en-US" altLang="zh-CN" sz="900" dirty="0" smtClean="0">
              <a:solidFill>
                <a:srgbClr val="FF0000"/>
              </a:solidFill>
            </a:endParaRPr>
          </a:p>
          <a:p>
            <a:endParaRPr lang="zh-CN" altLang="en-US" sz="9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2975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256" y="2695472"/>
            <a:ext cx="9945488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345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任意多边形: 形状 21"/>
          <p:cNvSpPr/>
          <p:nvPr/>
        </p:nvSpPr>
        <p:spPr>
          <a:xfrm rot="16200000" flipH="1">
            <a:off x="8633653" y="-537063"/>
            <a:ext cx="1832249" cy="2906375"/>
          </a:xfrm>
          <a:custGeom>
            <a:avLst/>
            <a:gdLst>
              <a:gd name="connsiteX0" fmla="*/ 0 w 1832249"/>
              <a:gd name="connsiteY0" fmla="*/ 0 h 2906375"/>
              <a:gd name="connsiteX1" fmla="*/ 0 w 1832249"/>
              <a:gd name="connsiteY1" fmla="*/ 1313065 h 2906375"/>
              <a:gd name="connsiteX2" fmla="*/ 1832249 w 1832249"/>
              <a:gd name="connsiteY2" fmla="*/ 2906375 h 2906375"/>
              <a:gd name="connsiteX3" fmla="*/ 1832249 w 1832249"/>
              <a:gd name="connsiteY3" fmla="*/ 1529151 h 2906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32249" h="2906375">
                <a:moveTo>
                  <a:pt x="0" y="0"/>
                </a:moveTo>
                <a:lnTo>
                  <a:pt x="0" y="1313065"/>
                </a:lnTo>
                <a:lnTo>
                  <a:pt x="1832249" y="2906375"/>
                </a:lnTo>
                <a:lnTo>
                  <a:pt x="1832249" y="1529151"/>
                </a:lnTo>
                <a:close/>
              </a:path>
            </a:pathLst>
          </a:cu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292028" y="-6393"/>
            <a:ext cx="4182218" cy="6870787"/>
          </a:xfrm>
          <a:prstGeom prst="rect">
            <a:avLst/>
          </a:prstGeom>
        </p:spPr>
      </p:pic>
      <p:sp>
        <p:nvSpPr>
          <p:cNvPr id="5" name="五边形 4"/>
          <p:cNvSpPr/>
          <p:nvPr/>
        </p:nvSpPr>
        <p:spPr>
          <a:xfrm>
            <a:off x="1" y="0"/>
            <a:ext cx="9052050" cy="6864394"/>
          </a:xfrm>
          <a:prstGeom prst="homePlate">
            <a:avLst>
              <a:gd name="adj" fmla="val 41675"/>
            </a:avLst>
          </a:prstGeom>
          <a:solidFill>
            <a:srgbClr val="70379B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702091" y="2659997"/>
            <a:ext cx="628931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spcBef>
                <a:spcPct val="0"/>
              </a:spcBef>
            </a:pPr>
            <a:r>
              <a:rPr lang="en-US" altLang="zh-CN" sz="8800" spc="-15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j-cs"/>
              </a:rPr>
              <a:t>THANKS</a:t>
            </a:r>
            <a:endParaRPr lang="zh-CN" altLang="en-US" sz="8800" spc="-150" dirty="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COMMONDATA" val="eyJoZGlkIjoiZWE0ZDRmNjBhZGIxNzk3NjA2OGE1MjZiNjM3YzJiZTcifQ=="/>
</p:tagLst>
</file>

<file path=ppt/theme/theme1.xml><?xml version="1.0" encoding="utf-8"?>
<a:theme xmlns:a="http://schemas.openxmlformats.org/drawingml/2006/main" name="Office Theme">
  <a:themeElements>
    <a:clrScheme name="自定义 152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86E00"/>
      </a:accent1>
      <a:accent2>
        <a:srgbClr val="E88500"/>
      </a:accent2>
      <a:accent3>
        <a:srgbClr val="A5A5A5"/>
      </a:accent3>
      <a:accent4>
        <a:srgbClr val="C84924"/>
      </a:accent4>
      <a:accent5>
        <a:srgbClr val="595959"/>
      </a:accent5>
      <a:accent6>
        <a:srgbClr val="3F3F3F"/>
      </a:accent6>
      <a:hlink>
        <a:srgbClr val="262626"/>
      </a:hlink>
      <a:folHlink>
        <a:srgbClr val="FF7852"/>
      </a:folHlink>
    </a:clrScheme>
    <a:fontScheme name="思源黑体">
      <a:majorFont>
        <a:latin typeface="思源黑体 CN Heavy"/>
        <a:ea typeface="思源黑体"/>
        <a:cs typeface=""/>
      </a:majorFont>
      <a:minorFont>
        <a:latin typeface="思源黑体"/>
        <a:ea typeface="思源黑体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1529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E86E00"/>
    </a:accent1>
    <a:accent2>
      <a:srgbClr val="E88500"/>
    </a:accent2>
    <a:accent3>
      <a:srgbClr val="A5A5A5"/>
    </a:accent3>
    <a:accent4>
      <a:srgbClr val="C84924"/>
    </a:accent4>
    <a:accent5>
      <a:srgbClr val="595959"/>
    </a:accent5>
    <a:accent6>
      <a:srgbClr val="3F3F3F"/>
    </a:accent6>
    <a:hlink>
      <a:srgbClr val="262626"/>
    </a:hlink>
    <a:folHlink>
      <a:srgbClr val="FF785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3308</TotalTime>
  <Words>1176</Words>
  <Application>Microsoft Office PowerPoint</Application>
  <PresentationFormat>宽屏</PresentationFormat>
  <Paragraphs>164</Paragraphs>
  <Slides>12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Lato Black</vt:lpstr>
      <vt:lpstr>Roboto Condensed</vt:lpstr>
      <vt:lpstr>等线</vt:lpstr>
      <vt:lpstr>思源黑体</vt:lpstr>
      <vt:lpstr>思源黑体 CN Heavy</vt:lpstr>
      <vt:lpstr>微软雅黑</vt:lpstr>
      <vt:lpstr>Arial</vt:lpstr>
      <vt:lpstr>Impact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KevinLiu</cp:lastModifiedBy>
  <cp:revision>823</cp:revision>
  <dcterms:created xsi:type="dcterms:W3CDTF">2019-07-11T04:52:00Z</dcterms:created>
  <dcterms:modified xsi:type="dcterms:W3CDTF">2024-11-16T08:26:57Z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2F67F2FB5F5D4574A60CA6CDB54EA8C3_12</vt:lpwstr>
  </property>
  <property fmtid="{D5CDD505-2E9C-101B-9397-08002B2CF9AE}" pid="3" name="KSOProductBuildVer">
    <vt:lpwstr>2052-11.1.0.9021</vt:lpwstr>
  </property>
</Properties>
</file>